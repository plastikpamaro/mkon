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21"/>
  </p:notesMasterIdLst>
  <p:sldIdLst>
    <p:sldId id="256" r:id="rId2"/>
    <p:sldId id="259" r:id="rId3"/>
    <p:sldId id="265" r:id="rId4"/>
    <p:sldId id="282" r:id="rId5"/>
    <p:sldId id="283" r:id="rId6"/>
    <p:sldId id="293" r:id="rId7"/>
    <p:sldId id="294" r:id="rId8"/>
    <p:sldId id="295" r:id="rId9"/>
    <p:sldId id="274" r:id="rId10"/>
    <p:sldId id="288" r:id="rId11"/>
    <p:sldId id="291" r:id="rId12"/>
    <p:sldId id="298" r:id="rId13"/>
    <p:sldId id="296" r:id="rId14"/>
    <p:sldId id="285" r:id="rId15"/>
    <p:sldId id="284" r:id="rId16"/>
    <p:sldId id="287" r:id="rId17"/>
    <p:sldId id="272" r:id="rId18"/>
    <p:sldId id="286" r:id="rId19"/>
    <p:sldId id="29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17F63"/>
    <a:srgbClr val="4960A6"/>
    <a:srgbClr val="2E2B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978" autoAdjust="0"/>
    <p:restoredTop sz="94660"/>
  </p:normalViewPr>
  <p:slideViewPr>
    <p:cSldViewPr snapToGrid="0">
      <p:cViewPr>
        <p:scale>
          <a:sx n="75" d="100"/>
          <a:sy n="75" d="100"/>
        </p:scale>
        <p:origin x="1392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microsoft.com/office/2007/relationships/hdphoto" Target="../media/hdphoto3.wdp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microsoft.com/office/2007/relationships/hdphoto" Target="../media/hdphoto4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microsoft.com/office/2007/relationships/hdphoto" Target="../media/hdphoto5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microsoft.com/office/2007/relationships/hdphoto" Target="../media/hdphoto6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microsoft.com/office/2007/relationships/hdphoto" Target="../media/hdphoto7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microsoft.com/office/2007/relationships/hdphoto" Target="../media/hdphoto8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microsoft.com/office/2007/relationships/hdphoto" Target="../media/hdphoto9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Relationship Id="rId4" Type="http://schemas.microsoft.com/office/2007/relationships/hdphoto" Target="../media/hdphoto10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7.xml"/><Relationship Id="rId4" Type="http://schemas.microsoft.com/office/2007/relationships/hdphoto" Target="../media/hdphoto11.wdp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Wer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sind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265685" y="4282874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Roschkowski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1083430" y="3913541"/>
            <a:ext cx="387292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endParaRPr lang="de-DE" sz="2400" dirty="0"/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265685" y="3913541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580D00A-E394-4E22-9EBC-3B743726ED1E}"/>
              </a:ext>
            </a:extLst>
          </p:cNvPr>
          <p:cNvSpPr/>
          <p:nvPr/>
        </p:nvSpPr>
        <p:spPr>
          <a:xfrm>
            <a:off x="949569" y="3913541"/>
            <a:ext cx="10304585" cy="2030059"/>
          </a:xfrm>
          <a:prstGeom prst="rect">
            <a:avLst/>
          </a:prstGeom>
          <a:noFill/>
          <a:ln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machen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9732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1892605" y="4134441"/>
            <a:ext cx="8406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Unterwassserdrohne zur automatisierten </a:t>
            </a:r>
          </a:p>
          <a:p>
            <a:r>
              <a:rPr lang="de-DE" sz="4000" dirty="0"/>
              <a:t>Ernte und Aussaat von Algen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2823CB7-D2CC-4286-86B7-F8BD1E7225CB}"/>
              </a:ext>
            </a:extLst>
          </p:cNvPr>
          <p:cNvSpPr txBox="1"/>
          <p:nvPr/>
        </p:nvSpPr>
        <p:spPr>
          <a:xfrm>
            <a:off x="1022166" y="978089"/>
            <a:ext cx="69530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dirty="0"/>
              <a:t>Groß Skalierbarer Anbau von Meeresalgen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Nutzung der Meeresflächen als Anbaugebiete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Reduzierung der Last auf terrestrischen Agrarflächen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6FA1436-912C-4633-BB55-C233FF997032}"/>
              </a:ext>
            </a:extLst>
          </p:cNvPr>
          <p:cNvSpPr/>
          <p:nvPr/>
        </p:nvSpPr>
        <p:spPr>
          <a:xfrm>
            <a:off x="1892605" y="4134441"/>
            <a:ext cx="8343348" cy="1467369"/>
          </a:xfrm>
          <a:prstGeom prst="rect">
            <a:avLst/>
          </a:prstGeom>
          <a:noFill/>
          <a:ln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0050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80CA426-D097-41B6-A081-DA8A2040F0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059" y="859138"/>
            <a:ext cx="6615983" cy="496198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6DF43F7-955E-44DB-AD1F-B6AD16ED0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7" y="1131298"/>
            <a:ext cx="3181350" cy="9525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2D782B6C-B1DA-4D94-B233-90949DED62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32857" y="2666210"/>
            <a:ext cx="3488671" cy="333375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3E14FEBE-B786-4B93-B89B-ABC23E857167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9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965" y="0"/>
            <a:ext cx="121740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261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C960394-7742-48A3-89C3-98E01E27FDD3}"/>
              </a:ext>
            </a:extLst>
          </p:cNvPr>
          <p:cNvSpPr txBox="1"/>
          <p:nvPr/>
        </p:nvSpPr>
        <p:spPr>
          <a:xfrm>
            <a:off x="8054623" y="860931"/>
            <a:ext cx="22740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 err="1"/>
              <a:t>Flügeltang</a:t>
            </a:r>
            <a:endParaRPr lang="de-DE" sz="3600" dirty="0"/>
          </a:p>
          <a:p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Alaria</a:t>
            </a:r>
            <a:r>
              <a:rPr lang="de-DE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esculenta</a:t>
            </a:r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de-DE" sz="36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72F42C-AFC6-4626-959C-8C725BBE79BD}"/>
              </a:ext>
            </a:extLst>
          </p:cNvPr>
          <p:cNvSpPr txBox="1"/>
          <p:nvPr/>
        </p:nvSpPr>
        <p:spPr>
          <a:xfrm>
            <a:off x="1297902" y="795528"/>
            <a:ext cx="30516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 err="1"/>
              <a:t>Zuckertang</a:t>
            </a:r>
            <a:endParaRPr lang="de-DE" sz="3600" dirty="0"/>
          </a:p>
          <a:p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Saccharina</a:t>
            </a:r>
            <a:r>
              <a:rPr lang="de-DE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latissima</a:t>
            </a:r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endParaRPr lang="de-DE" sz="360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BBEABAA-095E-4ACF-A394-20410BE82B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902" y="2034326"/>
            <a:ext cx="3376612" cy="37226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CADC62F-F731-467E-A16D-3D77CD3C5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3399" y="2264321"/>
            <a:ext cx="4001650" cy="32540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1FE9D9D-61BC-4018-ABAC-3C7E41CAF89F}"/>
              </a:ext>
            </a:extLst>
          </p:cNvPr>
          <p:cNvCxnSpPr>
            <a:cxnSpLocks/>
          </p:cNvCxnSpPr>
          <p:nvPr/>
        </p:nvCxnSpPr>
        <p:spPr>
          <a:xfrm>
            <a:off x="5783956" y="1164860"/>
            <a:ext cx="0" cy="4720125"/>
          </a:xfrm>
          <a:prstGeom prst="line">
            <a:avLst/>
          </a:prstGeom>
          <a:ln>
            <a:solidFill>
              <a:srgbClr val="C17F6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816CCAAB-D810-487B-8646-DFEE914A24B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9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98" y="-1"/>
            <a:ext cx="12190004" cy="6954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92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 descr="Asien mit einfarbiger Füllung">
            <a:extLst>
              <a:ext uri="{FF2B5EF4-FFF2-40B4-BE49-F238E27FC236}">
                <a16:creationId xmlns:a16="http://schemas.microsoft.com/office/drawing/2014/main" id="{C0087850-7846-47A8-A0D2-7CA5EBEC52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3771" y="2053242"/>
            <a:ext cx="3030632" cy="3030632"/>
          </a:xfrm>
          <a:prstGeom prst="rect">
            <a:avLst/>
          </a:prstGeom>
        </p:spPr>
      </p:pic>
      <p:pic>
        <p:nvPicPr>
          <p:cNvPr id="5" name="Grafik 4" descr="Europa mit einfarbiger Füllung">
            <a:extLst>
              <a:ext uri="{FF2B5EF4-FFF2-40B4-BE49-F238E27FC236}">
                <a16:creationId xmlns:a16="http://schemas.microsoft.com/office/drawing/2014/main" id="{1EBB8EAB-034A-4EE9-A41C-904740C382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6484" y="2121022"/>
            <a:ext cx="2430516" cy="2430516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5E7F1D0-EB5E-4320-92F1-03D76C2BD6BA}"/>
              </a:ext>
            </a:extLst>
          </p:cNvPr>
          <p:cNvSpPr txBox="1"/>
          <p:nvPr/>
        </p:nvSpPr>
        <p:spPr>
          <a:xfrm>
            <a:off x="1807597" y="4545265"/>
            <a:ext cx="187385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Europa </a:t>
            </a:r>
          </a:p>
          <a:p>
            <a:endParaRPr lang="de-DE" sz="28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36A8B30-5611-4392-8591-A7AB383EE046}"/>
              </a:ext>
            </a:extLst>
          </p:cNvPr>
          <p:cNvSpPr txBox="1"/>
          <p:nvPr/>
        </p:nvSpPr>
        <p:spPr>
          <a:xfrm>
            <a:off x="5923722" y="4545265"/>
            <a:ext cx="541483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Asien (insbesondere China) </a:t>
            </a:r>
          </a:p>
          <a:p>
            <a:endParaRPr lang="de-DE" sz="28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F9D31C4-DEF2-405C-8495-A878AEA9930A}"/>
              </a:ext>
            </a:extLst>
          </p:cNvPr>
          <p:cNvSpPr txBox="1"/>
          <p:nvPr/>
        </p:nvSpPr>
        <p:spPr>
          <a:xfrm>
            <a:off x="988315" y="654304"/>
            <a:ext cx="62517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Zukünftige Kunden: </a:t>
            </a:r>
          </a:p>
          <a:p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22526284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5B2B162-1BAF-4A76-8A5F-C5F1929706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494"/>
            <a:ext cx="12192000" cy="634701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F9101060-80F9-4F3E-B5C0-318E4541CA9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2749"/>
            <a:ext cx="12192000" cy="685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916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84464B4-777A-44D4-9F5C-587DA8526A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454" y="145846"/>
            <a:ext cx="11553092" cy="6566308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D6DF9D8-AE83-44B2-BF47-6D60579FBE3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275"/>
            <a:ext cx="12192000" cy="68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009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B9AEC49C-9D6A-4D5D-A2EC-730445758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36" y="87919"/>
            <a:ext cx="6910754" cy="6052275"/>
          </a:xfrm>
          <a:prstGeom prst="rect">
            <a:avLst/>
          </a:prstGeom>
          <a:effectLst/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6D4C797F-6F0C-4934-9005-EF68B0E97695}"/>
              </a:ext>
            </a:extLst>
          </p:cNvPr>
          <p:cNvSpPr txBox="1"/>
          <p:nvPr/>
        </p:nvSpPr>
        <p:spPr>
          <a:xfrm rot="5400000">
            <a:off x="3279501" y="6141961"/>
            <a:ext cx="612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/>
              <a:t>…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3D31459-2584-4677-B6F8-9DA99127F894}"/>
              </a:ext>
            </a:extLst>
          </p:cNvPr>
          <p:cNvSpPr txBox="1"/>
          <p:nvPr/>
        </p:nvSpPr>
        <p:spPr>
          <a:xfrm>
            <a:off x="7042639" y="193430"/>
            <a:ext cx="4615961" cy="4893647"/>
          </a:xfrm>
          <a:prstGeom prst="rect">
            <a:avLst/>
          </a:prstGeom>
          <a:noFill/>
          <a:ln>
            <a:solidFill>
              <a:srgbClr val="C17F63"/>
            </a:solidFill>
          </a:ln>
        </p:spPr>
        <p:txBody>
          <a:bodyPr wrap="square" rtlCol="0">
            <a:spAutoFit/>
          </a:bodyPr>
          <a:lstStyle/>
          <a:p>
            <a:r>
              <a:rPr lang="de-DE" sz="2400" dirty="0"/>
              <a:t> Wichtigste Anforderungen: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Autonom Algen säen und ernten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Hochseeumgeben aushalten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Über modulare Werkzeuge verfügen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Sich kollisionsfrei in Umgebung fortbewegen können (andere Drohnen, Fische, Taucher,…)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Für den Kunden wirtschaftliche </a:t>
            </a:r>
          </a:p>
          <a:p>
            <a:r>
              <a:rPr lang="de-DE" sz="2400" dirty="0"/>
              <a:t>    Betriebskosten</a:t>
            </a:r>
          </a:p>
          <a:p>
            <a:r>
              <a:rPr lang="de-DE" sz="2400" dirty="0"/>
              <a:t> -  Gesetzliche Vorgaben einhalten    </a:t>
            </a:r>
          </a:p>
          <a:p>
            <a:r>
              <a:rPr lang="de-DE" sz="2400" dirty="0"/>
              <a:t>    (Lebensmittelgesetze,  	  	   	    	Umweltschutz)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09B40D7-5BA9-49C8-872E-20584B9A5B8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1654"/>
            <a:ext cx="12192000" cy="685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215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A58259CC-10AB-4BFB-BD4F-65461D9E5326}"/>
              </a:ext>
            </a:extLst>
          </p:cNvPr>
          <p:cNvSpPr txBox="1">
            <a:spLocks/>
          </p:cNvSpPr>
          <p:nvPr/>
        </p:nvSpPr>
        <p:spPr>
          <a:xfrm>
            <a:off x="709803" y="666750"/>
            <a:ext cx="9720073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2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Tw Cen MT" panose="020B0602020104020603" pitchFamily="34" charset="0"/>
              <a:buNone/>
            </a:pPr>
            <a:r>
              <a:rPr lang="de-DE" dirty="0"/>
              <a:t>Zusammenfassung:</a:t>
            </a:r>
          </a:p>
          <a:p>
            <a:pPr>
              <a:buFontTx/>
              <a:buChar char="-"/>
            </a:pPr>
            <a:r>
              <a:rPr lang="de-DE" dirty="0"/>
              <a:t>Alle technischen Eigenschaften sind wichtig! </a:t>
            </a:r>
          </a:p>
          <a:p>
            <a:pPr>
              <a:buFontTx/>
              <a:buChar char="-"/>
            </a:pPr>
            <a:r>
              <a:rPr lang="de-DE" dirty="0"/>
              <a:t>Kollisionsvermeidung wurde zuvor unterschätzt</a:t>
            </a:r>
          </a:p>
          <a:p>
            <a:pPr>
              <a:buFontTx/>
              <a:buChar char="-"/>
            </a:pPr>
            <a:r>
              <a:rPr lang="de-DE" dirty="0"/>
              <a:t>Kundenanforderungen im Vergleich zum Wettbewerb 3,7 von 5  </a:t>
            </a:r>
          </a:p>
          <a:p>
            <a:pPr>
              <a:buFontTx/>
              <a:buChar char="-"/>
            </a:pPr>
            <a:r>
              <a:rPr lang="de-DE" dirty="0"/>
              <a:t>Kaum Schnittmenge mit Konkurrenz</a:t>
            </a:r>
          </a:p>
          <a:p>
            <a:pPr>
              <a:buFontTx/>
              <a:buChar char="-"/>
            </a:pPr>
            <a:r>
              <a:rPr lang="de-DE" dirty="0"/>
              <a:t>Arbeiter sind besonders gut im Kundenwünsche erfüllen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6759417-6E7D-4060-A301-90F380035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554" y="2495549"/>
            <a:ext cx="3818945" cy="3782001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80F029D-57EA-4EA7-8361-24F3B103062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13479"/>
            <a:ext cx="12192000" cy="6831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531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6EC36F4A-5527-4C0E-AC72-427FC8C033A7}"/>
              </a:ext>
            </a:extLst>
          </p:cNvPr>
          <p:cNvSpPr txBox="1">
            <a:spLocks/>
          </p:cNvSpPr>
          <p:nvPr/>
        </p:nvSpPr>
        <p:spPr>
          <a:xfrm>
            <a:off x="1011428" y="3303258"/>
            <a:ext cx="9720073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2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de-DE" dirty="0"/>
              <a:t> Anmeldeland: Deutschland (Europa) und China</a:t>
            </a:r>
          </a:p>
          <a:p>
            <a:pPr>
              <a:buFontTx/>
              <a:buChar char="-"/>
            </a:pPr>
            <a:r>
              <a:rPr lang="de-DE" dirty="0"/>
              <a:t> Kommunikation Unterwasser </a:t>
            </a:r>
          </a:p>
          <a:p>
            <a:pPr>
              <a:buFontTx/>
              <a:buChar char="-"/>
            </a:pPr>
            <a:r>
              <a:rPr lang="de-DE" dirty="0"/>
              <a:t> Viele Patente für Verarbeitungsprozesse nach der Ernte</a:t>
            </a:r>
          </a:p>
          <a:p>
            <a:pPr>
              <a:buFontTx/>
              <a:buChar char="-"/>
            </a:pPr>
            <a:r>
              <a:rPr lang="de-DE" dirty="0"/>
              <a:t> Kein Roboter </a:t>
            </a:r>
            <a:r>
              <a:rPr lang="de-DE" dirty="0" err="1"/>
              <a:t>Säh</a:t>
            </a:r>
            <a:r>
              <a:rPr lang="de-DE" dirty="0"/>
              <a:t>- oder Ernteverfahren patentiert</a:t>
            </a:r>
          </a:p>
          <a:p>
            <a:pPr>
              <a:buFontTx/>
              <a:buChar char="-"/>
            </a:pPr>
            <a:r>
              <a:rPr lang="de-DE" dirty="0"/>
              <a:t> Grün und Blaualgen vom Roboter bis zum Sammelverfahren patentiert</a:t>
            </a:r>
          </a:p>
          <a:p>
            <a:pPr>
              <a:buFontTx/>
              <a:buChar char="-"/>
            </a:pP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6D92467-017B-4596-90C8-2DFF8C5664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390" y="602864"/>
            <a:ext cx="4642124" cy="3448436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73126409-7586-4150-B51C-A3D26866E7E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5721"/>
            <a:ext cx="12192000" cy="684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052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1228F920-75D3-40D0-BE01-78D1BBBD5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651" y="85725"/>
            <a:ext cx="8900697" cy="668655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463CC021-7A2D-44F0-9E62-2470031076D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69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725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2107E4D-9327-4A13-97E1-629B2BF17C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536" y="90376"/>
            <a:ext cx="10536927" cy="6677247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2FF6F9A-88B1-4470-B36F-B6F5FD84D4D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92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792FD7F-141E-4729-BEEE-F077ED0C95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559" y="241084"/>
            <a:ext cx="11850882" cy="637583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864C132-7CD7-4ECF-872F-541AA36CBF2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050" y="0"/>
            <a:ext cx="12153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05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36636" y="643467"/>
            <a:ext cx="4871505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Anforderungen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7059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49761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240</Words>
  <Application>Microsoft Office PowerPoint</Application>
  <PresentationFormat>Breitbild</PresentationFormat>
  <Paragraphs>47</Paragraphs>
  <Slides>19</Slides>
  <Notes>0</Notes>
  <HiddenSlides>3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4" baseType="lpstr">
      <vt:lpstr>Calibri</vt:lpstr>
      <vt:lpstr>Tw Cen MT</vt:lpstr>
      <vt:lpstr>Tw Cen MT Condensed</vt:lpstr>
      <vt:lpstr>Wingdings 3</vt:lpstr>
      <vt:lpstr>Integral</vt:lpstr>
      <vt:lpstr>PowerPoint-Präsentation</vt:lpstr>
      <vt:lpstr>Wer sind wir?</vt:lpstr>
      <vt:lpstr>PowerPoint-Präsentation</vt:lpstr>
      <vt:lpstr>Was machen wir?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Anforderungen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Otto, Philipp Julian</cp:lastModifiedBy>
  <cp:revision>32</cp:revision>
  <dcterms:created xsi:type="dcterms:W3CDTF">2020-12-05T12:56:40Z</dcterms:created>
  <dcterms:modified xsi:type="dcterms:W3CDTF">2020-12-08T07:55:32Z</dcterms:modified>
</cp:coreProperties>
</file>
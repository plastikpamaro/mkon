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4"/>
  </p:notesMasterIdLst>
  <p:sldIdLst>
    <p:sldId id="256" r:id="rId2"/>
    <p:sldId id="259" r:id="rId3"/>
    <p:sldId id="265" r:id="rId4"/>
    <p:sldId id="260" r:id="rId5"/>
    <p:sldId id="271" r:id="rId6"/>
    <p:sldId id="262" r:id="rId7"/>
    <p:sldId id="267" r:id="rId8"/>
    <p:sldId id="261" r:id="rId9"/>
    <p:sldId id="273" r:id="rId10"/>
    <p:sldId id="268" r:id="rId11"/>
    <p:sldId id="283" r:id="rId12"/>
    <p:sldId id="270" r:id="rId13"/>
    <p:sldId id="275" r:id="rId14"/>
    <p:sldId id="276" r:id="rId15"/>
    <p:sldId id="274" r:id="rId16"/>
    <p:sldId id="279" r:id="rId17"/>
    <p:sldId id="282" r:id="rId18"/>
    <p:sldId id="278" r:id="rId19"/>
    <p:sldId id="280" r:id="rId20"/>
    <p:sldId id="277" r:id="rId21"/>
    <p:sldId id="28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0A6"/>
    <a:srgbClr val="2E2B21"/>
    <a:srgbClr val="C17F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09.11.2020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>
                <a:solidFill>
                  <a:schemeClr val="tx1">
                    <a:alpha val="80000"/>
                  </a:schemeClr>
                </a:solidFill>
              </a:rPr>
              <a:t>Wer sind wir?</a:t>
            </a:r>
            <a:endParaRPr lang="en-US" sz="6600" spc="2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738241" y="412598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</a:t>
            </a:r>
            <a:r>
              <a:rPr lang="de-DE" sz="2400" dirty="0" err="1"/>
              <a:t>Roschkowski</a:t>
            </a:r>
            <a:r>
              <a:rPr lang="de-DE" sz="2400" dirty="0"/>
              <a:t>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721119" y="4172146"/>
            <a:ext cx="47786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r>
              <a:rPr lang="de-DE" sz="2400" dirty="0"/>
              <a:t>geschätzter 	Firmenwert: 200.000€</a:t>
            </a:r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738241" y="3756647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wollen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325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C307415-271F-4602-AC56-B1A2FA648715}"/>
              </a:ext>
            </a:extLst>
          </p:cNvPr>
          <p:cNvSpPr txBox="1"/>
          <p:nvPr/>
        </p:nvSpPr>
        <p:spPr>
          <a:xfrm>
            <a:off x="2454618" y="2875002"/>
            <a:ext cx="72827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600" dirty="0"/>
              <a:t>Die Rettung der Welt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CE89EB-3BB1-4FFB-85CA-3155639EE2D5}"/>
              </a:ext>
            </a:extLst>
          </p:cNvPr>
          <p:cNvSpPr txBox="1"/>
          <p:nvPr/>
        </p:nvSpPr>
        <p:spPr>
          <a:xfrm>
            <a:off x="6714036" y="3982998"/>
            <a:ext cx="423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Oder zumindest unseren Teil dazu beitragen</a:t>
            </a:r>
          </a:p>
        </p:txBody>
      </p:sp>
    </p:spTree>
    <p:extLst>
      <p:ext uri="{BB962C8B-B14F-4D97-AF65-F5344CB8AC3E}">
        <p14:creationId xmlns:p14="http://schemas.microsoft.com/office/powerpoint/2010/main" val="83374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draußen, Wasser, Berg, Gras enthält.&#10;&#10;Automatisch generierte Beschreibung">
            <a:extLst>
              <a:ext uri="{FF2B5EF4-FFF2-40B4-BE49-F238E27FC236}">
                <a16:creationId xmlns:a16="http://schemas.microsoft.com/office/drawing/2014/main" id="{8DA7F572-34D0-4D64-92A6-E64E642B73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65" r="1" b="1"/>
          <a:stretch/>
        </p:blipFill>
        <p:spPr>
          <a:xfrm>
            <a:off x="4444884" y="2649653"/>
            <a:ext cx="7223346" cy="369018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F822A53-A493-4044-BD01-4DFD2A4FF408}"/>
              </a:ext>
            </a:extLst>
          </p:cNvPr>
          <p:cNvSpPr txBox="1"/>
          <p:nvPr/>
        </p:nvSpPr>
        <p:spPr>
          <a:xfrm>
            <a:off x="602763" y="2757112"/>
            <a:ext cx="36036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Der Druck auf die Landwirtschaft steigt. </a:t>
            </a:r>
          </a:p>
          <a:p>
            <a:r>
              <a:rPr lang="de-DE" sz="2400" dirty="0"/>
              <a:t>Landwirte müssen immer effizienter Arbeiten, dazu verwenden sie hohe Mengen an: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Düngemittel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Pestiziden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Monokulturen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5BA07F-D363-47B9-8C20-A341C7F1640B}"/>
              </a:ext>
            </a:extLst>
          </p:cNvPr>
          <p:cNvSpPr txBox="1"/>
          <p:nvPr/>
        </p:nvSpPr>
        <p:spPr>
          <a:xfrm>
            <a:off x="9985964" y="2334946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/>
              <a:t>Quelle: Greenpeace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753314-D3CC-4FB3-9850-E40F029DCB24}"/>
              </a:ext>
            </a:extLst>
          </p:cNvPr>
          <p:cNvSpPr txBox="1"/>
          <p:nvPr/>
        </p:nvSpPr>
        <p:spPr>
          <a:xfrm>
            <a:off x="841269" y="733859"/>
            <a:ext cx="42151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Die Problematik: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59C87F4-78F7-4B23-814B-895231947D52}"/>
              </a:ext>
            </a:extLst>
          </p:cNvPr>
          <p:cNvSpPr txBox="1"/>
          <p:nvPr/>
        </p:nvSpPr>
        <p:spPr>
          <a:xfrm>
            <a:off x="2850495" y="1446055"/>
            <a:ext cx="88177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Stetig wachsende Weltbevölkerung</a:t>
            </a:r>
          </a:p>
        </p:txBody>
      </p:sp>
    </p:spTree>
    <p:extLst>
      <p:ext uri="{BB962C8B-B14F-4D97-AF65-F5344CB8AC3E}">
        <p14:creationId xmlns:p14="http://schemas.microsoft.com/office/powerpoint/2010/main" val="38499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C5794B7-D8CC-47FD-AB0D-EF8BB287977E}"/>
              </a:ext>
            </a:extLst>
          </p:cNvPr>
          <p:cNvSpPr txBox="1"/>
          <p:nvPr/>
        </p:nvSpPr>
        <p:spPr>
          <a:xfrm>
            <a:off x="2135436" y="2598003"/>
            <a:ext cx="79211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Unser oberstes Ziel:</a:t>
            </a:r>
          </a:p>
          <a:p>
            <a:r>
              <a:rPr lang="de-DE" sz="2400" dirty="0"/>
              <a:t>Reduzierung der agrartechnisch genutzten Flächen, durch Erschließung der Meere als Zusätzliches Anbaugebiet.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235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>
                <a:solidFill>
                  <a:schemeClr val="tx1">
                    <a:alpha val="80000"/>
                  </a:schemeClr>
                </a:solidFill>
              </a:rPr>
              <a:t>Wie können wir das erreichen?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39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schwimmend, grün, sitzend, haltend enthält.&#10;&#10;Automatisch generierte Beschreibung">
            <a:extLst>
              <a:ext uri="{FF2B5EF4-FFF2-40B4-BE49-F238E27FC236}">
                <a16:creationId xmlns:a16="http://schemas.microsoft.com/office/drawing/2014/main" id="{79A94BF5-5C1D-4210-B325-A8962E06F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68" y="1263115"/>
            <a:ext cx="9884664" cy="507307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5DEB3FE-FEC3-4ACC-B79E-F749C8194B3C}"/>
              </a:ext>
            </a:extLst>
          </p:cNvPr>
          <p:cNvSpPr txBox="1"/>
          <p:nvPr/>
        </p:nvSpPr>
        <p:spPr>
          <a:xfrm>
            <a:off x="3439856" y="548422"/>
            <a:ext cx="5312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Automatisierte Algenfarmen</a:t>
            </a:r>
          </a:p>
        </p:txBody>
      </p:sp>
    </p:spTree>
    <p:extLst>
      <p:ext uri="{BB962C8B-B14F-4D97-AF65-F5344CB8AC3E}">
        <p14:creationId xmlns:p14="http://schemas.microsoft.com/office/powerpoint/2010/main" val="11285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72A430D-28A1-4BB7-841E-BD1F53E374E3}"/>
              </a:ext>
            </a:extLst>
          </p:cNvPr>
          <p:cNvSpPr txBox="1"/>
          <p:nvPr/>
        </p:nvSpPr>
        <p:spPr>
          <a:xfrm>
            <a:off x="5392632" y="729221"/>
            <a:ext cx="1406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Algen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82ED93-E354-498B-A3BB-5639C37D017E}"/>
              </a:ext>
            </a:extLst>
          </p:cNvPr>
          <p:cNvSpPr txBox="1"/>
          <p:nvPr/>
        </p:nvSpPr>
        <p:spPr>
          <a:xfrm>
            <a:off x="2910042" y="2136338"/>
            <a:ext cx="25954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Algen enthalten: 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Proteine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Minerale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Ballaststoffe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Fettsäuren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Jod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Vitamin A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Eisen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etc.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0E098A9-A343-4108-A779-78290CB4960E}"/>
              </a:ext>
            </a:extLst>
          </p:cNvPr>
          <p:cNvSpPr txBox="1"/>
          <p:nvPr/>
        </p:nvSpPr>
        <p:spPr>
          <a:xfrm>
            <a:off x="6877050" y="2136338"/>
            <a:ext cx="36195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Algen können: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Gut getrocknet werden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Lange haltbar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Leicht zu transportieren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Leicht zu verarbeiten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Verhindern Überdüngung der Meere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742950" lvl="1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176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4" name="Grafik 3" descr="Bauernhofszenerie">
            <a:extLst>
              <a:ext uri="{FF2B5EF4-FFF2-40B4-BE49-F238E27FC236}">
                <a16:creationId xmlns:a16="http://schemas.microsoft.com/office/drawing/2014/main" id="{6C5F4E65-3FBD-4426-8449-563118469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6611" y="1484600"/>
            <a:ext cx="1206477" cy="1206477"/>
          </a:xfrm>
          <a:prstGeom prst="rect">
            <a:avLst/>
          </a:prstGeom>
        </p:spPr>
      </p:pic>
      <p:pic>
        <p:nvPicPr>
          <p:cNvPr id="8" name="Grafik 7" descr="Seetang">
            <a:extLst>
              <a:ext uri="{FF2B5EF4-FFF2-40B4-BE49-F238E27FC236}">
                <a16:creationId xmlns:a16="http://schemas.microsoft.com/office/drawing/2014/main" id="{44ECA660-3DA1-4974-8250-DA9CD4A1B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5953" y="3643195"/>
            <a:ext cx="1206477" cy="1206477"/>
          </a:xfrm>
          <a:prstGeom prst="rect">
            <a:avLst/>
          </a:prstGeom>
        </p:spPr>
      </p:pic>
      <p:pic>
        <p:nvPicPr>
          <p:cNvPr id="10" name="Grafik 9" descr="Zurück">
            <a:extLst>
              <a:ext uri="{FF2B5EF4-FFF2-40B4-BE49-F238E27FC236}">
                <a16:creationId xmlns:a16="http://schemas.microsoft.com/office/drawing/2014/main" id="{F8B1C1C4-3DEE-4382-A91F-21759342F3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4765067">
            <a:off x="8300337" y="2453673"/>
            <a:ext cx="1206477" cy="1206477"/>
          </a:xfrm>
          <a:prstGeom prst="rect">
            <a:avLst/>
          </a:prstGeom>
        </p:spPr>
      </p:pic>
      <p:pic>
        <p:nvPicPr>
          <p:cNvPr id="11" name="Grafik 10" descr="Zurück">
            <a:extLst>
              <a:ext uri="{FF2B5EF4-FFF2-40B4-BE49-F238E27FC236}">
                <a16:creationId xmlns:a16="http://schemas.microsoft.com/office/drawing/2014/main" id="{C5D3DDEB-3253-4BB8-8E71-705FAF6FC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2309436">
            <a:off x="6766673" y="4291231"/>
            <a:ext cx="1206477" cy="1206477"/>
          </a:xfrm>
          <a:prstGeom prst="rect">
            <a:avLst/>
          </a:prstGeom>
        </p:spPr>
      </p:pic>
      <p:pic>
        <p:nvPicPr>
          <p:cNvPr id="12" name="Grafik 11" descr="Zurück">
            <a:extLst>
              <a:ext uri="{FF2B5EF4-FFF2-40B4-BE49-F238E27FC236}">
                <a16:creationId xmlns:a16="http://schemas.microsoft.com/office/drawing/2014/main" id="{80E7608F-D860-4B72-83F4-2A7F403175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455584">
            <a:off x="5751999" y="2245699"/>
            <a:ext cx="1206477" cy="1206477"/>
          </a:xfrm>
          <a:prstGeom prst="rect">
            <a:avLst/>
          </a:prstGeom>
        </p:spPr>
      </p:pic>
      <p:pic>
        <p:nvPicPr>
          <p:cNvPr id="16" name="Grafik 15" descr="Welle">
            <a:extLst>
              <a:ext uri="{FF2B5EF4-FFF2-40B4-BE49-F238E27FC236}">
                <a16:creationId xmlns:a16="http://schemas.microsoft.com/office/drawing/2014/main" id="{D599114F-3911-4EB2-A4FF-F98D45AF27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11411" y="3661765"/>
            <a:ext cx="1206477" cy="120647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2296DC10-F4A0-4542-BF55-5A218C87882A}"/>
              </a:ext>
            </a:extLst>
          </p:cNvPr>
          <p:cNvSpPr txBox="1"/>
          <p:nvPr/>
        </p:nvSpPr>
        <p:spPr>
          <a:xfrm>
            <a:off x="1113556" y="1161434"/>
            <a:ext cx="4121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Positiver Nebeneffekt</a:t>
            </a:r>
          </a:p>
        </p:txBody>
      </p:sp>
    </p:spTree>
    <p:extLst>
      <p:ext uri="{BB962C8B-B14F-4D97-AF65-F5344CB8AC3E}">
        <p14:creationId xmlns:p14="http://schemas.microsoft.com/office/powerpoint/2010/main" val="153674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39C9EF2-E6A7-489D-B2CF-FE6C2DC73D3F}"/>
              </a:ext>
            </a:extLst>
          </p:cNvPr>
          <p:cNvSpPr txBox="1"/>
          <p:nvPr/>
        </p:nvSpPr>
        <p:spPr>
          <a:xfrm>
            <a:off x="1069371" y="881048"/>
            <a:ext cx="63294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Problematik: 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Bisher keine Automatisierung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Hohe Kosten durch Personaleinsatz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Ernte nur bei guten Wetterbedingungen möglich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F86A8BC-7A86-4EF9-B1BD-03D8ABF31B36}"/>
              </a:ext>
            </a:extLst>
          </p:cNvPr>
          <p:cNvSpPr txBox="1"/>
          <p:nvPr/>
        </p:nvSpPr>
        <p:spPr>
          <a:xfrm>
            <a:off x="2663746" y="3428999"/>
            <a:ext cx="6864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17F63"/>
                </a:solidFill>
              </a:rPr>
              <a:t>Limitierende Faktoren, die die Effektivität einschränken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0112DDD-844A-4A9C-B809-2881602135F9}"/>
              </a:ext>
            </a:extLst>
          </p:cNvPr>
          <p:cNvSpPr txBox="1"/>
          <p:nvPr/>
        </p:nvSpPr>
        <p:spPr>
          <a:xfrm>
            <a:off x="1069371" y="4345074"/>
            <a:ext cx="890205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Unsere Lösung:</a:t>
            </a:r>
          </a:p>
          <a:p>
            <a:r>
              <a:rPr lang="de-DE" sz="2400" dirty="0"/>
              <a:t>Ein System aus Unterwasserdrohnen automatisiert die Aussaat und Ernte</a:t>
            </a:r>
          </a:p>
          <a:p>
            <a:endParaRPr lang="de-DE" dirty="0"/>
          </a:p>
        </p:txBody>
      </p:sp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225B3035-545B-46CF-810B-8B3302F69669}"/>
              </a:ext>
            </a:extLst>
          </p:cNvPr>
          <p:cNvSpPr/>
          <p:nvPr/>
        </p:nvSpPr>
        <p:spPr>
          <a:xfrm>
            <a:off x="7391241" y="1466850"/>
            <a:ext cx="152559" cy="189143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C17F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3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908436" y="8591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D267863-88EC-494F-9EFE-675B08B57943}"/>
              </a:ext>
            </a:extLst>
          </p:cNvPr>
          <p:cNvSpPr txBox="1"/>
          <p:nvPr/>
        </p:nvSpPr>
        <p:spPr>
          <a:xfrm>
            <a:off x="1389419" y="1043804"/>
            <a:ext cx="2422779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Zielrahmen: </a:t>
            </a:r>
          </a:p>
          <a:p>
            <a:endParaRPr lang="de-DE" sz="3600" dirty="0"/>
          </a:p>
          <a:p>
            <a:endParaRPr lang="de-DE" sz="2800" dirty="0"/>
          </a:p>
          <a:p>
            <a:r>
              <a:rPr lang="de-DE" sz="2800" dirty="0"/>
              <a:t>Unsere Kunden </a:t>
            </a:r>
          </a:p>
          <a:p>
            <a:r>
              <a:rPr lang="de-DE" sz="2400" dirty="0"/>
              <a:t>		</a:t>
            </a:r>
          </a:p>
        </p:txBody>
      </p:sp>
      <p:pic>
        <p:nvPicPr>
          <p:cNvPr id="9" name="Grafik 8" descr="Hochspannung">
            <a:extLst>
              <a:ext uri="{FF2B5EF4-FFF2-40B4-BE49-F238E27FC236}">
                <a16:creationId xmlns:a16="http://schemas.microsoft.com/office/drawing/2014/main" id="{AD6DB117-5C71-42E4-BB4C-9420248F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638" y="2245178"/>
            <a:ext cx="914400" cy="914400"/>
          </a:xfrm>
          <a:prstGeom prst="rect">
            <a:avLst/>
          </a:prstGeom>
        </p:spPr>
      </p:pic>
      <p:pic>
        <p:nvPicPr>
          <p:cNvPr id="11" name="Grafik 10" descr="Abheben">
            <a:extLst>
              <a:ext uri="{FF2B5EF4-FFF2-40B4-BE49-F238E27FC236}">
                <a16:creationId xmlns:a16="http://schemas.microsoft.com/office/drawing/2014/main" id="{70B9ACE3-AFA7-4859-B3F9-148ED1178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9804" y="2371108"/>
            <a:ext cx="914400" cy="914400"/>
          </a:xfrm>
          <a:prstGeom prst="rect">
            <a:avLst/>
          </a:prstGeom>
        </p:spPr>
      </p:pic>
      <p:pic>
        <p:nvPicPr>
          <p:cNvPr id="13" name="Grafik 12" descr="Bauernhofszenerie">
            <a:extLst>
              <a:ext uri="{FF2B5EF4-FFF2-40B4-BE49-F238E27FC236}">
                <a16:creationId xmlns:a16="http://schemas.microsoft.com/office/drawing/2014/main" id="{E9F72A2E-0CEC-4882-97D5-3E8BD626E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0055" y="2245178"/>
            <a:ext cx="914400" cy="914400"/>
          </a:xfrm>
          <a:prstGeom prst="rect">
            <a:avLst/>
          </a:prstGeom>
        </p:spPr>
      </p:pic>
      <p:pic>
        <p:nvPicPr>
          <p:cNvPr id="15" name="Grafik 14" descr="Mikroskop">
            <a:extLst>
              <a:ext uri="{FF2B5EF4-FFF2-40B4-BE49-F238E27FC236}">
                <a16:creationId xmlns:a16="http://schemas.microsoft.com/office/drawing/2014/main" id="{2429ABAD-7034-4F2C-99D2-3B7619626B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63221" y="2235110"/>
            <a:ext cx="914400" cy="914400"/>
          </a:xfrm>
          <a:prstGeom prst="rect">
            <a:avLst/>
          </a:prstGeom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684E42DA-56F2-4FDE-9B8B-ACCE96074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207" y="283224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21C266-8DEA-404B-9F71-DD606857ED66}"/>
              </a:ext>
            </a:extLst>
          </p:cNvPr>
          <p:cNvSpPr txBox="1"/>
          <p:nvPr/>
        </p:nvSpPr>
        <p:spPr>
          <a:xfrm>
            <a:off x="2215873" y="4099015"/>
            <a:ext cx="87759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Unbekannt starke Skalierbarkeit für das Bewirtschaften von </a:t>
            </a:r>
          </a:p>
          <a:p>
            <a:r>
              <a:rPr lang="de-DE" sz="2800" dirty="0"/>
              <a:t>			Algenfarmen in offenen Gewässern</a:t>
            </a:r>
          </a:p>
          <a:p>
            <a:endParaRPr lang="de-DE" sz="28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BB08CBF-3EA7-4AF5-9D70-9456A7DAA43E}"/>
              </a:ext>
            </a:extLst>
          </p:cNvPr>
          <p:cNvSpPr txBox="1"/>
          <p:nvPr/>
        </p:nvSpPr>
        <p:spPr>
          <a:xfrm>
            <a:off x="1389419" y="4099015"/>
            <a:ext cx="760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USP</a:t>
            </a:r>
          </a:p>
        </p:txBody>
      </p:sp>
    </p:spTree>
    <p:extLst>
      <p:ext uri="{BB962C8B-B14F-4D97-AF65-F5344CB8AC3E}">
        <p14:creationId xmlns:p14="http://schemas.microsoft.com/office/powerpoint/2010/main" val="273398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6571EB4-7117-44B4-A73A-F00FB81D1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0697"/>
              </p:ext>
            </p:extLst>
          </p:nvPr>
        </p:nvGraphicFramePr>
        <p:xfrm>
          <a:off x="3212123" y="1572660"/>
          <a:ext cx="7580922" cy="4356384"/>
        </p:xfrm>
        <a:graphic>
          <a:graphicData uri="http://schemas.openxmlformats.org/drawingml/2006/table">
            <a:tbl>
              <a:tblPr firstRow="1" firstCol="1" bandRow="1"/>
              <a:tblGrid>
                <a:gridCol w="2070981">
                  <a:extLst>
                    <a:ext uri="{9D8B030D-6E8A-4147-A177-3AD203B41FA5}">
                      <a16:colId xmlns:a16="http://schemas.microsoft.com/office/drawing/2014/main" val="281993658"/>
                    </a:ext>
                  </a:extLst>
                </a:gridCol>
                <a:gridCol w="1853091">
                  <a:extLst>
                    <a:ext uri="{9D8B030D-6E8A-4147-A177-3AD203B41FA5}">
                      <a16:colId xmlns:a16="http://schemas.microsoft.com/office/drawing/2014/main" val="1584897720"/>
                    </a:ext>
                  </a:extLst>
                </a:gridCol>
                <a:gridCol w="1933258">
                  <a:extLst>
                    <a:ext uri="{9D8B030D-6E8A-4147-A177-3AD203B41FA5}">
                      <a16:colId xmlns:a16="http://schemas.microsoft.com/office/drawing/2014/main" val="1392341566"/>
                    </a:ext>
                  </a:extLst>
                </a:gridCol>
                <a:gridCol w="1723592">
                  <a:extLst>
                    <a:ext uri="{9D8B030D-6E8A-4147-A177-3AD203B41FA5}">
                      <a16:colId xmlns:a16="http://schemas.microsoft.com/office/drawing/2014/main" val="2399818563"/>
                    </a:ext>
                  </a:extLst>
                </a:gridCol>
              </a:tblGrid>
              <a:tr h="3094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Vernachlässigbar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Wettbewerbsfähig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Best in 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861444"/>
                  </a:ext>
                </a:extLst>
              </a:tr>
              <a:tr h="633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Betriebskosten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Arbeiter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</a:t>
                      </a: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DE" sz="1400" b="1" dirty="0" err="1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Sähautomat</a:t>
                      </a:r>
                      <a:endParaRPr lang="de-DE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538135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Ernteschiff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943949"/>
                  </a:ext>
                </a:extLst>
              </a:tr>
              <a:tr h="8164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Anschaffungskosten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</a:t>
                      </a: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DE" sz="1400" b="1" dirty="0" err="1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Sähautomat</a:t>
                      </a:r>
                      <a:endParaRPr lang="de-DE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538135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Ernteschiff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Arbeiter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679711"/>
                  </a:ext>
                </a:extLst>
              </a:tr>
              <a:tr h="7212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Skalierbarkeit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Arbeiter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538135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Ernteschiff</a:t>
                      </a: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DE" sz="1400" b="1" dirty="0" err="1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Sähautomat</a:t>
                      </a:r>
                      <a:endParaRPr lang="de-DE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744415"/>
                  </a:ext>
                </a:extLst>
              </a:tr>
              <a:tr h="633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Zuverlässigkeit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Arbeiter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</a:t>
                      </a: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DE" sz="1400" b="1" dirty="0" err="1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Sähautomat</a:t>
                      </a:r>
                      <a:endParaRPr lang="de-DE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538135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Ernteschiff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791955"/>
                  </a:ext>
                </a:extLst>
              </a:tr>
              <a:tr h="6098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Ertragsfähigkeit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Arbeiter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</a:t>
                      </a: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DE" sz="1400" b="1" dirty="0" err="1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Sähautomat</a:t>
                      </a:r>
                      <a:endParaRPr lang="de-DE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538135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Ernteschiff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113086"/>
                  </a:ext>
                </a:extLst>
              </a:tr>
              <a:tr h="633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Standzeit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Arbeiter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538135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Ernteschiff</a:t>
                      </a:r>
                      <a:r>
                        <a:rPr lang="de-D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DE" sz="1400" b="1" dirty="0" err="1">
                          <a:solidFill>
                            <a:srgbClr val="BF8F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Sähautomat</a:t>
                      </a:r>
                      <a:endParaRPr lang="de-DE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</a:t>
                      </a:r>
                      <a:endParaRPr lang="de-DE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697970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2F19C88A-07F7-4F3D-B848-47DCC38A9975}"/>
              </a:ext>
            </a:extLst>
          </p:cNvPr>
          <p:cNvSpPr txBox="1"/>
          <p:nvPr/>
        </p:nvSpPr>
        <p:spPr>
          <a:xfrm>
            <a:off x="685800" y="6570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/>
              <a:t>Produktleistungsprofil</a:t>
            </a: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0930BF53-ED89-4708-B4EA-B2F1F0E13D34}"/>
              </a:ext>
            </a:extLst>
          </p:cNvPr>
          <p:cNvCxnSpPr>
            <a:cxnSpLocks/>
          </p:cNvCxnSpPr>
          <p:nvPr/>
        </p:nvCxnSpPr>
        <p:spPr>
          <a:xfrm flipV="1">
            <a:off x="5522259" y="2068606"/>
            <a:ext cx="1806388" cy="4594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720249DD-C59E-42BF-B52C-078C46485CBD}"/>
              </a:ext>
            </a:extLst>
          </p:cNvPr>
          <p:cNvCxnSpPr>
            <a:cxnSpLocks/>
          </p:cNvCxnSpPr>
          <p:nvPr/>
        </p:nvCxnSpPr>
        <p:spPr>
          <a:xfrm>
            <a:off x="5522259" y="2725270"/>
            <a:ext cx="3715080" cy="5995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372A922A-02F9-49D5-8982-B524EB08F0AE}"/>
              </a:ext>
            </a:extLst>
          </p:cNvPr>
          <p:cNvCxnSpPr>
            <a:cxnSpLocks/>
          </p:cNvCxnSpPr>
          <p:nvPr/>
        </p:nvCxnSpPr>
        <p:spPr>
          <a:xfrm flipV="1">
            <a:off x="7386918" y="3562350"/>
            <a:ext cx="1850421" cy="4896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D10E1FC-CFAA-4C2E-BD55-B62860D31637}"/>
              </a:ext>
            </a:extLst>
          </p:cNvPr>
          <p:cNvCxnSpPr>
            <a:cxnSpLocks/>
          </p:cNvCxnSpPr>
          <p:nvPr/>
        </p:nvCxnSpPr>
        <p:spPr>
          <a:xfrm>
            <a:off x="7295387" y="4258237"/>
            <a:ext cx="0" cy="4213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3CD27032-F2E7-46CC-A34A-0A6F90A4F31C}"/>
              </a:ext>
            </a:extLst>
          </p:cNvPr>
          <p:cNvCxnSpPr>
            <a:cxnSpLocks/>
          </p:cNvCxnSpPr>
          <p:nvPr/>
        </p:nvCxnSpPr>
        <p:spPr>
          <a:xfrm>
            <a:off x="7295387" y="4917142"/>
            <a:ext cx="1941952" cy="36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160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graphicFrame>
        <p:nvGraphicFramePr>
          <p:cNvPr id="3" name="Objekt 2">
            <a:extLst>
              <a:ext uri="{FF2B5EF4-FFF2-40B4-BE49-F238E27FC236}">
                <a16:creationId xmlns:a16="http://schemas.microsoft.com/office/drawing/2014/main" id="{78B8B28C-F391-4BAA-95C0-C07F070C3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719658"/>
              </p:ext>
            </p:extLst>
          </p:nvPr>
        </p:nvGraphicFramePr>
        <p:xfrm>
          <a:off x="5650018" y="0"/>
          <a:ext cx="6613699" cy="8492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Acrobat Document" r:id="rId3" imgW="4533723" imgH="6415677" progId="AcroExch.Document.DC">
                  <p:embed/>
                </p:oleObj>
              </mc:Choice>
              <mc:Fallback>
                <p:oleObj name="Acrobat Document" r:id="rId3" imgW="4533723" imgH="6415677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50018" y="0"/>
                        <a:ext cx="6613699" cy="8492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8805725C-FB5B-41BF-AC74-B7E7880C0711}"/>
              </a:ext>
            </a:extLst>
          </p:cNvPr>
          <p:cNvSpPr txBox="1"/>
          <p:nvPr/>
        </p:nvSpPr>
        <p:spPr>
          <a:xfrm>
            <a:off x="1079319" y="786071"/>
            <a:ext cx="271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Projektplan </a:t>
            </a:r>
          </a:p>
        </p:txBody>
      </p:sp>
    </p:spTree>
    <p:extLst>
      <p:ext uri="{BB962C8B-B14F-4D97-AF65-F5344CB8AC3E}">
        <p14:creationId xmlns:p14="http://schemas.microsoft.com/office/powerpoint/2010/main" val="3516916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688997-D297-4FB3-A44E-18FF72DFD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98" y="1464188"/>
            <a:ext cx="7983403" cy="481307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9CBC7B0-6724-4729-9107-59C9AADBB25D}"/>
              </a:ext>
            </a:extLst>
          </p:cNvPr>
          <p:cNvSpPr txBox="1"/>
          <p:nvPr/>
        </p:nvSpPr>
        <p:spPr>
          <a:xfrm>
            <a:off x="870531" y="657028"/>
            <a:ext cx="3343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SWOT - Analyse</a:t>
            </a:r>
          </a:p>
        </p:txBody>
      </p:sp>
    </p:spTree>
    <p:extLst>
      <p:ext uri="{BB962C8B-B14F-4D97-AF65-F5344CB8AC3E}">
        <p14:creationId xmlns:p14="http://schemas.microsoft.com/office/powerpoint/2010/main" val="2295576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1B840C9-8DB1-4610-A075-0F508736EED5}"/>
              </a:ext>
            </a:extLst>
          </p:cNvPr>
          <p:cNvSpPr txBox="1"/>
          <p:nvPr/>
        </p:nvSpPr>
        <p:spPr>
          <a:xfrm>
            <a:off x="778165" y="1127999"/>
            <a:ext cx="5228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Die wichtigsten Einflüsse: 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F4A3126-A246-4229-96C3-DE151E3A2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7" y="2106801"/>
            <a:ext cx="10939466" cy="351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6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C528B80-94F5-4FBA-8713-0C76A5C73DE8}"/>
              </a:ext>
            </a:extLst>
          </p:cNvPr>
          <p:cNvSpPr txBox="1"/>
          <p:nvPr/>
        </p:nvSpPr>
        <p:spPr>
          <a:xfrm>
            <a:off x="870531" y="1022511"/>
            <a:ext cx="608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Überprüfung auf Konsistenz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6C5725-30B5-4556-A912-62EF76E9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6" y="2094687"/>
            <a:ext cx="10951028" cy="266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07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13523C-C1F4-4BB6-8D95-183DA889E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18" y="522532"/>
            <a:ext cx="8723563" cy="581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9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91BE55-BF9B-45C3-8197-BB12E04B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028700"/>
            <a:ext cx="110680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13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1739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Breitbild</PresentationFormat>
  <Paragraphs>94</Paragraphs>
  <Slides>22</Slides>
  <Notes>0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Calibri</vt:lpstr>
      <vt:lpstr>Tw Cen MT</vt:lpstr>
      <vt:lpstr>Tw Cen MT Condensed</vt:lpstr>
      <vt:lpstr>Wingdings 3</vt:lpstr>
      <vt:lpstr>Integral</vt:lpstr>
      <vt:lpstr>Acrobat Document</vt:lpstr>
      <vt:lpstr>PowerPoint-Präsentation</vt:lpstr>
      <vt:lpstr>Wer sind wir?</vt:lpstr>
      <vt:lpstr>PowerPoint-Präsentation</vt:lpstr>
      <vt:lpstr>Was wollen wir?</vt:lpstr>
      <vt:lpstr>PowerPoint-Präsentation</vt:lpstr>
      <vt:lpstr>PowerPoint-Präsentation</vt:lpstr>
      <vt:lpstr>PowerPoint-Präsentation</vt:lpstr>
      <vt:lpstr>Wie können wir das erreichen?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Otto, Philipp Julian</cp:lastModifiedBy>
  <cp:revision>37</cp:revision>
  <dcterms:created xsi:type="dcterms:W3CDTF">2020-11-02T11:25:11Z</dcterms:created>
  <dcterms:modified xsi:type="dcterms:W3CDTF">2020-11-09T14:41:10Z</dcterms:modified>
</cp:coreProperties>
</file>
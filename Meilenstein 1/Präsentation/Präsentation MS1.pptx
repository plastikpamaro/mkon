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9"/>
  </p:notesMasterIdLst>
  <p:sldIdLst>
    <p:sldId id="269" r:id="rId2"/>
    <p:sldId id="256" r:id="rId3"/>
    <p:sldId id="259" r:id="rId4"/>
    <p:sldId id="265" r:id="rId5"/>
    <p:sldId id="260" r:id="rId6"/>
    <p:sldId id="271" r:id="rId7"/>
    <p:sldId id="262" r:id="rId8"/>
    <p:sldId id="267" r:id="rId9"/>
    <p:sldId id="261" r:id="rId10"/>
    <p:sldId id="273" r:id="rId11"/>
    <p:sldId id="268" r:id="rId12"/>
    <p:sldId id="270" r:id="rId13"/>
    <p:sldId id="274" r:id="rId14"/>
    <p:sldId id="275" r:id="rId15"/>
    <p:sldId id="276" r:id="rId16"/>
    <p:sldId id="277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2B21"/>
    <a:srgbClr val="C17F63"/>
    <a:srgbClr val="4960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54" autoAdjust="0"/>
    <p:restoredTop sz="94660"/>
  </p:normalViewPr>
  <p:slideViewPr>
    <p:cSldViewPr snapToGrid="0">
      <p:cViewPr varScale="1">
        <p:scale>
          <a:sx n="96" d="100"/>
          <a:sy n="96" d="100"/>
        </p:scale>
        <p:origin x="5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5.e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306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Wer sind wir?</a:t>
            </a:r>
            <a:endParaRPr lang="en-US" sz="6600" spc="2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738241" y="4125980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</a:t>
            </a:r>
            <a:r>
              <a:rPr lang="de-DE" sz="2400" dirty="0" err="1"/>
              <a:t>Roschkowski</a:t>
            </a:r>
            <a:r>
              <a:rPr lang="de-DE" sz="2400" dirty="0"/>
              <a:t>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721119" y="4172146"/>
            <a:ext cx="477861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r>
              <a:rPr lang="de-DE" sz="2400" dirty="0"/>
              <a:t>geschätzter 	Firmenwert: 200.000€</a:t>
            </a:r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738241" y="3756647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wollen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2325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C307415-271F-4602-AC56-B1A2FA648715}"/>
              </a:ext>
            </a:extLst>
          </p:cNvPr>
          <p:cNvSpPr txBox="1"/>
          <p:nvPr/>
        </p:nvSpPr>
        <p:spPr>
          <a:xfrm>
            <a:off x="2454618" y="2875002"/>
            <a:ext cx="7282763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600" dirty="0"/>
              <a:t>Die Rettung der Welt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CE89EB-3BB1-4FFB-85CA-3155639EE2D5}"/>
              </a:ext>
            </a:extLst>
          </p:cNvPr>
          <p:cNvSpPr txBox="1"/>
          <p:nvPr/>
        </p:nvSpPr>
        <p:spPr>
          <a:xfrm>
            <a:off x="6714036" y="3982998"/>
            <a:ext cx="4230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Oder zumindest unseren Teil dazu beitragen</a:t>
            </a:r>
          </a:p>
        </p:txBody>
      </p:sp>
    </p:spTree>
    <p:extLst>
      <p:ext uri="{BB962C8B-B14F-4D97-AF65-F5344CB8AC3E}">
        <p14:creationId xmlns:p14="http://schemas.microsoft.com/office/powerpoint/2010/main" val="833746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fik 2" descr="Ein Bild, das draußen, Wasser, Berg, Gras enthält.&#10;&#10;Automatisch generierte Beschreibung">
            <a:extLst>
              <a:ext uri="{FF2B5EF4-FFF2-40B4-BE49-F238E27FC236}">
                <a16:creationId xmlns:a16="http://schemas.microsoft.com/office/drawing/2014/main" id="{8DA7F572-34D0-4D64-92A6-E64E642B73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465" r="1" b="1"/>
          <a:stretch/>
        </p:blipFill>
        <p:spPr>
          <a:xfrm>
            <a:off x="4444884" y="2649653"/>
            <a:ext cx="7223346" cy="369018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F822A53-A493-4044-BD01-4DFD2A4FF408}"/>
              </a:ext>
            </a:extLst>
          </p:cNvPr>
          <p:cNvSpPr txBox="1"/>
          <p:nvPr/>
        </p:nvSpPr>
        <p:spPr>
          <a:xfrm>
            <a:off x="602763" y="2757112"/>
            <a:ext cx="360361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Der Druck auf die Landwirtschaft steigt. </a:t>
            </a:r>
          </a:p>
          <a:p>
            <a:r>
              <a:rPr lang="de-DE" sz="2400" dirty="0"/>
              <a:t>Landwirte müssen immer effizienter Arbeiten, dazu verwenden sie hohe Mengen an: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Düngemittel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Pestiziden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Monokulturen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5BA07F-D363-47B9-8C20-A341C7F1640B}"/>
              </a:ext>
            </a:extLst>
          </p:cNvPr>
          <p:cNvSpPr txBox="1"/>
          <p:nvPr/>
        </p:nvSpPr>
        <p:spPr>
          <a:xfrm>
            <a:off x="9985964" y="2334946"/>
            <a:ext cx="1752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i="1" dirty="0"/>
              <a:t>Quelle: Greenpeace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2753314-D3CC-4FB3-9850-E40F029DCB24}"/>
              </a:ext>
            </a:extLst>
          </p:cNvPr>
          <p:cNvSpPr txBox="1"/>
          <p:nvPr/>
        </p:nvSpPr>
        <p:spPr>
          <a:xfrm>
            <a:off x="841269" y="733859"/>
            <a:ext cx="4215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/>
              <a:t>Die Problematik: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59C87F4-78F7-4B23-814B-895231947D52}"/>
              </a:ext>
            </a:extLst>
          </p:cNvPr>
          <p:cNvSpPr txBox="1"/>
          <p:nvPr/>
        </p:nvSpPr>
        <p:spPr>
          <a:xfrm>
            <a:off x="2850495" y="1446055"/>
            <a:ext cx="88177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/>
              <a:t>Stetig wachsende Weltbevölkerung</a:t>
            </a:r>
          </a:p>
        </p:txBody>
      </p:sp>
    </p:spTree>
    <p:extLst>
      <p:ext uri="{BB962C8B-B14F-4D97-AF65-F5344CB8AC3E}">
        <p14:creationId xmlns:p14="http://schemas.microsoft.com/office/powerpoint/2010/main" val="3849919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C5794B7-D8CC-47FD-AB0D-EF8BB287977E}"/>
              </a:ext>
            </a:extLst>
          </p:cNvPr>
          <p:cNvSpPr txBox="1"/>
          <p:nvPr/>
        </p:nvSpPr>
        <p:spPr>
          <a:xfrm>
            <a:off x="2135436" y="2598003"/>
            <a:ext cx="792112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Unser oberstes Ziel:</a:t>
            </a:r>
          </a:p>
          <a:p>
            <a:r>
              <a:rPr lang="de-DE" sz="2400" dirty="0"/>
              <a:t>Reduzierung der agrartechnisch genutzten Flächen, durch Erschließung der Meere als Zusätzliches Anbaugebiet.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2359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Wie können wir das erreichen?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392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fik 2" descr="Ein Bild, das schwimmend, grün, sitzend, haltend enthält.&#10;&#10;Automatisch generierte Beschreibung">
            <a:extLst>
              <a:ext uri="{FF2B5EF4-FFF2-40B4-BE49-F238E27FC236}">
                <a16:creationId xmlns:a16="http://schemas.microsoft.com/office/drawing/2014/main" id="{79A94BF5-5C1D-4210-B325-A8962E06FB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668" y="1263115"/>
            <a:ext cx="9884664" cy="507307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E5DEB3FE-FEC3-4ACC-B79E-F749C8194B3C}"/>
              </a:ext>
            </a:extLst>
          </p:cNvPr>
          <p:cNvSpPr txBox="1"/>
          <p:nvPr/>
        </p:nvSpPr>
        <p:spPr>
          <a:xfrm>
            <a:off x="2373282" y="548422"/>
            <a:ext cx="7445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Vollständig automatisierte Algenfarmen</a:t>
            </a:r>
          </a:p>
        </p:txBody>
      </p:sp>
    </p:spTree>
    <p:extLst>
      <p:ext uri="{BB962C8B-B14F-4D97-AF65-F5344CB8AC3E}">
        <p14:creationId xmlns:p14="http://schemas.microsoft.com/office/powerpoint/2010/main" val="112858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72A430D-28A1-4BB7-841E-BD1F53E374E3}"/>
              </a:ext>
            </a:extLst>
          </p:cNvPr>
          <p:cNvSpPr txBox="1"/>
          <p:nvPr/>
        </p:nvSpPr>
        <p:spPr>
          <a:xfrm>
            <a:off x="5392632" y="729221"/>
            <a:ext cx="14067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Algen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C82ED93-E354-498B-A3BB-5639C37D017E}"/>
              </a:ext>
            </a:extLst>
          </p:cNvPr>
          <p:cNvSpPr txBox="1"/>
          <p:nvPr/>
        </p:nvSpPr>
        <p:spPr>
          <a:xfrm>
            <a:off x="2910042" y="2136338"/>
            <a:ext cx="259540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enthalten: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Proteine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Minerale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Ballaststoffe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Fettsäuren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Jod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Vitamin A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Eisen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etc.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0E098A9-A343-4108-A779-78290CB4960E}"/>
              </a:ext>
            </a:extLst>
          </p:cNvPr>
          <p:cNvSpPr txBox="1"/>
          <p:nvPr/>
        </p:nvSpPr>
        <p:spPr>
          <a:xfrm>
            <a:off x="6877050" y="2136338"/>
            <a:ext cx="36195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können: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Gut getrocknet werden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Lange haltbar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transportieren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verarbeiten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Verhindern Überdüngung der Meere</a:t>
            </a:r>
          </a:p>
          <a:p>
            <a:pPr marL="285750" indent="-285750">
              <a:buFontTx/>
              <a:buChar char="-"/>
            </a:pPr>
            <a:endParaRPr lang="de-DE" dirty="0"/>
          </a:p>
          <a:p>
            <a:pPr marL="742950" lvl="1" indent="-2857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1768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39C9EF2-E6A7-489D-B2CF-FE6C2DC73D3F}"/>
              </a:ext>
            </a:extLst>
          </p:cNvPr>
          <p:cNvSpPr txBox="1"/>
          <p:nvPr/>
        </p:nvSpPr>
        <p:spPr>
          <a:xfrm>
            <a:off x="1069371" y="881048"/>
            <a:ext cx="632949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Problematik: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Bisher keine Automatisierung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Hohe Kosten durch Personaleinsatz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Ernte nur bei guten Wetterbedingungen möglich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F86A8BC-7A86-4EF9-B1BD-03D8ABF31B36}"/>
              </a:ext>
            </a:extLst>
          </p:cNvPr>
          <p:cNvSpPr txBox="1"/>
          <p:nvPr/>
        </p:nvSpPr>
        <p:spPr>
          <a:xfrm>
            <a:off x="2663746" y="3428999"/>
            <a:ext cx="6864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olidFill>
                  <a:srgbClr val="C17F63"/>
                </a:solidFill>
              </a:rPr>
              <a:t>Limitierende Faktoren, die die Effektivität einschränken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0112DDD-844A-4A9C-B809-2881602135F9}"/>
              </a:ext>
            </a:extLst>
          </p:cNvPr>
          <p:cNvSpPr txBox="1"/>
          <p:nvPr/>
        </p:nvSpPr>
        <p:spPr>
          <a:xfrm>
            <a:off x="1069371" y="4345074"/>
            <a:ext cx="8902052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Unsere Lösung:</a:t>
            </a:r>
          </a:p>
          <a:p>
            <a:r>
              <a:rPr lang="de-DE" sz="2400" dirty="0"/>
              <a:t>Ein System aus Unterwasserdrohnen automatisiert die Aussaat und Ernte</a:t>
            </a:r>
          </a:p>
          <a:p>
            <a:endParaRPr lang="de-DE" dirty="0"/>
          </a:p>
        </p:txBody>
      </p:sp>
      <p:sp>
        <p:nvSpPr>
          <p:cNvPr id="9" name="Pfeil: nach unten 8">
            <a:extLst>
              <a:ext uri="{FF2B5EF4-FFF2-40B4-BE49-F238E27FC236}">
                <a16:creationId xmlns:a16="http://schemas.microsoft.com/office/drawing/2014/main" id="{225B3035-545B-46CF-810B-8B3302F69669}"/>
              </a:ext>
            </a:extLst>
          </p:cNvPr>
          <p:cNvSpPr/>
          <p:nvPr/>
        </p:nvSpPr>
        <p:spPr>
          <a:xfrm>
            <a:off x="7391241" y="1466850"/>
            <a:ext cx="152559" cy="189143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C17F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1530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graphicFrame>
        <p:nvGraphicFramePr>
          <p:cNvPr id="3" name="Objekt 2">
            <a:extLst>
              <a:ext uri="{FF2B5EF4-FFF2-40B4-BE49-F238E27FC236}">
                <a16:creationId xmlns:a16="http://schemas.microsoft.com/office/drawing/2014/main" id="{78B8B28C-F391-4BAA-95C0-C07F070C353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8679690"/>
              </p:ext>
            </p:extLst>
          </p:nvPr>
        </p:nvGraphicFramePr>
        <p:xfrm>
          <a:off x="4189046" y="480060"/>
          <a:ext cx="6002215" cy="849263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5" name="Acrobat Document" r:id="rId3" imgW="4533723" imgH="6415677" progId="AcroExch.Document.DC">
                  <p:embed/>
                </p:oleObj>
              </mc:Choice>
              <mc:Fallback>
                <p:oleObj name="Acrobat Document" r:id="rId3" imgW="4533723" imgH="6415677" progId="AcroExch.Document.DC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189046" y="480060"/>
                        <a:ext cx="6002215" cy="849263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feld 3">
            <a:extLst>
              <a:ext uri="{FF2B5EF4-FFF2-40B4-BE49-F238E27FC236}">
                <a16:creationId xmlns:a16="http://schemas.microsoft.com/office/drawing/2014/main" id="{8805725C-FB5B-41BF-AC74-B7E7880C0711}"/>
              </a:ext>
            </a:extLst>
          </p:cNvPr>
          <p:cNvSpPr txBox="1"/>
          <p:nvPr/>
        </p:nvSpPr>
        <p:spPr>
          <a:xfrm>
            <a:off x="1079319" y="786071"/>
            <a:ext cx="27111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Projektplan </a:t>
            </a:r>
          </a:p>
        </p:txBody>
      </p:sp>
    </p:spTree>
    <p:extLst>
      <p:ext uri="{BB962C8B-B14F-4D97-AF65-F5344CB8AC3E}">
        <p14:creationId xmlns:p14="http://schemas.microsoft.com/office/powerpoint/2010/main" val="35169165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908436" y="8591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D267863-88EC-494F-9EFE-675B08B57943}"/>
              </a:ext>
            </a:extLst>
          </p:cNvPr>
          <p:cNvSpPr txBox="1"/>
          <p:nvPr/>
        </p:nvSpPr>
        <p:spPr>
          <a:xfrm>
            <a:off x="1389419" y="1043804"/>
            <a:ext cx="892237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Zielrahmen: </a:t>
            </a:r>
          </a:p>
          <a:p>
            <a:endParaRPr lang="de-DE" sz="3600" dirty="0"/>
          </a:p>
          <a:p>
            <a:endParaRPr lang="de-DE" sz="3600" dirty="0"/>
          </a:p>
          <a:p>
            <a:r>
              <a:rPr lang="de-DE" sz="2400" dirty="0"/>
              <a:t>Unsere Kunden </a:t>
            </a:r>
          </a:p>
          <a:p>
            <a:endParaRPr lang="de-DE" sz="2400" dirty="0"/>
          </a:p>
          <a:p>
            <a:endParaRPr lang="de-DE" sz="2400" dirty="0"/>
          </a:p>
          <a:p>
            <a:endParaRPr lang="de-DE" sz="2400" dirty="0"/>
          </a:p>
          <a:p>
            <a:r>
              <a:rPr lang="de-DE" sz="2400" dirty="0"/>
              <a:t>USP 		Unbekannt starke Skalierbarkeit für das Bewirtschaften von </a:t>
            </a:r>
          </a:p>
          <a:p>
            <a:r>
              <a:rPr lang="de-DE" sz="2400" dirty="0"/>
              <a:t>			Algenfarmen in offenen Gewässern</a:t>
            </a:r>
          </a:p>
        </p:txBody>
      </p:sp>
      <p:pic>
        <p:nvPicPr>
          <p:cNvPr id="9" name="Grafik 8" descr="Hochspannung">
            <a:extLst>
              <a:ext uri="{FF2B5EF4-FFF2-40B4-BE49-F238E27FC236}">
                <a16:creationId xmlns:a16="http://schemas.microsoft.com/office/drawing/2014/main" id="{AD6DB117-5C71-42E4-BB4C-9420248F83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86603" y="2249113"/>
            <a:ext cx="914400" cy="914400"/>
          </a:xfrm>
          <a:prstGeom prst="rect">
            <a:avLst/>
          </a:prstGeom>
        </p:spPr>
      </p:pic>
      <p:pic>
        <p:nvPicPr>
          <p:cNvPr id="11" name="Grafik 10" descr="Abheben">
            <a:extLst>
              <a:ext uri="{FF2B5EF4-FFF2-40B4-BE49-F238E27FC236}">
                <a16:creationId xmlns:a16="http://schemas.microsoft.com/office/drawing/2014/main" id="{70B9ACE3-AFA7-4859-B3F9-148ED1178E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19769" y="2375043"/>
            <a:ext cx="914400" cy="914400"/>
          </a:xfrm>
          <a:prstGeom prst="rect">
            <a:avLst/>
          </a:prstGeom>
        </p:spPr>
      </p:pic>
      <p:pic>
        <p:nvPicPr>
          <p:cNvPr id="13" name="Grafik 12" descr="Bauernhofszenerie">
            <a:extLst>
              <a:ext uri="{FF2B5EF4-FFF2-40B4-BE49-F238E27FC236}">
                <a16:creationId xmlns:a16="http://schemas.microsoft.com/office/drawing/2014/main" id="{E9F72A2E-0CEC-4882-97D5-3E8BD626EA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70020" y="2249113"/>
            <a:ext cx="914400" cy="914400"/>
          </a:xfrm>
          <a:prstGeom prst="rect">
            <a:avLst/>
          </a:prstGeom>
        </p:spPr>
      </p:pic>
      <p:pic>
        <p:nvPicPr>
          <p:cNvPr id="15" name="Grafik 14" descr="Mikroskop">
            <a:extLst>
              <a:ext uri="{FF2B5EF4-FFF2-40B4-BE49-F238E27FC236}">
                <a16:creationId xmlns:a16="http://schemas.microsoft.com/office/drawing/2014/main" id="{2429ABAD-7034-4F2C-99D2-3B7619626BA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03186" y="2239045"/>
            <a:ext cx="914400" cy="914400"/>
          </a:xfrm>
          <a:prstGeom prst="rect">
            <a:avLst/>
          </a:prstGeom>
        </p:spPr>
      </p:pic>
      <p:sp>
        <p:nvSpPr>
          <p:cNvPr id="19" name="Rectangle 4">
            <a:extLst>
              <a:ext uri="{FF2B5EF4-FFF2-40B4-BE49-F238E27FC236}">
                <a16:creationId xmlns:a16="http://schemas.microsoft.com/office/drawing/2014/main" id="{684E42DA-56F2-4FDE-9B8B-ACCE960744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207" y="283224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3980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16571EB4-7117-44B4-A73A-F00FB81D1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9327328"/>
              </p:ext>
            </p:extLst>
          </p:nvPr>
        </p:nvGraphicFramePr>
        <p:xfrm>
          <a:off x="3212123" y="1572660"/>
          <a:ext cx="7580922" cy="4379697"/>
        </p:xfrm>
        <a:graphic>
          <a:graphicData uri="http://schemas.openxmlformats.org/drawingml/2006/table">
            <a:tbl>
              <a:tblPr firstRow="1" firstCol="1" bandRow="1"/>
              <a:tblGrid>
                <a:gridCol w="2070981">
                  <a:extLst>
                    <a:ext uri="{9D8B030D-6E8A-4147-A177-3AD203B41FA5}">
                      <a16:colId xmlns:a16="http://schemas.microsoft.com/office/drawing/2014/main" val="281993658"/>
                    </a:ext>
                  </a:extLst>
                </a:gridCol>
                <a:gridCol w="1853091">
                  <a:extLst>
                    <a:ext uri="{9D8B030D-6E8A-4147-A177-3AD203B41FA5}">
                      <a16:colId xmlns:a16="http://schemas.microsoft.com/office/drawing/2014/main" val="1584897720"/>
                    </a:ext>
                  </a:extLst>
                </a:gridCol>
                <a:gridCol w="1933258">
                  <a:extLst>
                    <a:ext uri="{9D8B030D-6E8A-4147-A177-3AD203B41FA5}">
                      <a16:colId xmlns:a16="http://schemas.microsoft.com/office/drawing/2014/main" val="1392341566"/>
                    </a:ext>
                  </a:extLst>
                </a:gridCol>
                <a:gridCol w="1723592">
                  <a:extLst>
                    <a:ext uri="{9D8B030D-6E8A-4147-A177-3AD203B41FA5}">
                      <a16:colId xmlns:a16="http://schemas.microsoft.com/office/drawing/2014/main" val="2399818563"/>
                    </a:ext>
                  </a:extLst>
                </a:gridCol>
              </a:tblGrid>
              <a:tr h="30940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Vernachlässigbar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Wettbewerbsfähig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Best in Class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5861444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Betriebskosten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r>
                        <a:rPr lang="de-DE" sz="1100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</a:t>
                      </a:r>
                      <a:endParaRPr lang="de-DE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943949"/>
                  </a:ext>
                </a:extLst>
              </a:tr>
              <a:tr h="81649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Anschaffungskosten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9679711"/>
                  </a:ext>
                </a:extLst>
              </a:tr>
              <a:tr h="72121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Skalierbarkeit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1744415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Zuverlässigkeit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5791955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Ertragsfähigkeit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1113086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Standzeit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2697970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2F19C88A-07F7-4F3D-B848-47DCC38A9975}"/>
              </a:ext>
            </a:extLst>
          </p:cNvPr>
          <p:cNvSpPr txBox="1"/>
          <p:nvPr/>
        </p:nvSpPr>
        <p:spPr>
          <a:xfrm>
            <a:off x="685800" y="795528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Produktleistungsprofil</a:t>
            </a:r>
          </a:p>
        </p:txBody>
      </p:sp>
    </p:spTree>
    <p:extLst>
      <p:ext uri="{BB962C8B-B14F-4D97-AF65-F5344CB8AC3E}">
        <p14:creationId xmlns:p14="http://schemas.microsoft.com/office/powerpoint/2010/main" val="10521604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32130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282</Words>
  <Application>Microsoft Office PowerPoint</Application>
  <PresentationFormat>Breitbild</PresentationFormat>
  <Paragraphs>91</Paragraphs>
  <Slides>17</Slides>
  <Notes>0</Notes>
  <HiddenSlides>1</HiddenSlides>
  <MMClips>0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3" baseType="lpstr">
      <vt:lpstr>Calibri</vt:lpstr>
      <vt:lpstr>Tw Cen MT</vt:lpstr>
      <vt:lpstr>Tw Cen MT Condensed</vt:lpstr>
      <vt:lpstr>Wingdings 3</vt:lpstr>
      <vt:lpstr>Integral</vt:lpstr>
      <vt:lpstr>Adobe Acrobat Document</vt:lpstr>
      <vt:lpstr>PowerPoint-Präsentation</vt:lpstr>
      <vt:lpstr>PowerPoint-Präsentation</vt:lpstr>
      <vt:lpstr>Wer sind wir?</vt:lpstr>
      <vt:lpstr>PowerPoint-Präsentation</vt:lpstr>
      <vt:lpstr>Was wollen wir?</vt:lpstr>
      <vt:lpstr>PowerPoint-Präsentation</vt:lpstr>
      <vt:lpstr>PowerPoint-Präsentation</vt:lpstr>
      <vt:lpstr>PowerPoint-Präsentation</vt:lpstr>
      <vt:lpstr>Wie können wir das erreichen?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Schwarz, Leon Maximilian</cp:lastModifiedBy>
  <cp:revision>25</cp:revision>
  <dcterms:created xsi:type="dcterms:W3CDTF">2020-11-02T11:25:11Z</dcterms:created>
  <dcterms:modified xsi:type="dcterms:W3CDTF">2020-11-08T14:20:49Z</dcterms:modified>
</cp:coreProperties>
</file>
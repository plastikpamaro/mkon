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2"/>
  </p:notesMasterIdLst>
  <p:sldIdLst>
    <p:sldId id="296" r:id="rId2"/>
    <p:sldId id="256" r:id="rId3"/>
    <p:sldId id="259" r:id="rId4"/>
    <p:sldId id="265" r:id="rId5"/>
    <p:sldId id="282" r:id="rId6"/>
    <p:sldId id="283" r:id="rId7"/>
    <p:sldId id="293" r:id="rId8"/>
    <p:sldId id="294" r:id="rId9"/>
    <p:sldId id="274" r:id="rId10"/>
    <p:sldId id="295" r:id="rId11"/>
    <p:sldId id="288" r:id="rId12"/>
    <p:sldId id="291" r:id="rId13"/>
    <p:sldId id="290" r:id="rId14"/>
    <p:sldId id="289" r:id="rId15"/>
    <p:sldId id="285" r:id="rId16"/>
    <p:sldId id="284" r:id="rId17"/>
    <p:sldId id="287" r:id="rId18"/>
    <p:sldId id="272" r:id="rId19"/>
    <p:sldId id="286" r:id="rId20"/>
    <p:sldId id="29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7F63"/>
    <a:srgbClr val="4960A6"/>
    <a:srgbClr val="2E2B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38" autoAdjust="0"/>
    <p:restoredTop sz="94660"/>
  </p:normalViewPr>
  <p:slideViewPr>
    <p:cSldViewPr snapToGrid="0">
      <p:cViewPr varScale="1">
        <p:scale>
          <a:sx n="86" d="100"/>
          <a:sy n="86" d="100"/>
        </p:scale>
        <p:origin x="60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8D3DC-C3A5-4BB0-A509-7EA8E98E9A54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D8641-0A0B-4388-BAA6-D8FA08FD80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33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001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85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581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716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357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72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69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152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40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96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560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4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microsoft.com/office/2007/relationships/hdphoto" Target="../media/hdphoto6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9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0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1.wdp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8A76F4-C055-4A93-88CE-ADA0BB029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Patentanalyse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F91FAE-5C46-42F4-9548-C69C99AE1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/>
              <a:t> Anmeldeland: Deutschland (Europa) und China</a:t>
            </a:r>
          </a:p>
          <a:p>
            <a:pPr>
              <a:buFontTx/>
              <a:buChar char="-"/>
            </a:pPr>
            <a:r>
              <a:rPr lang="de-DE" dirty="0"/>
              <a:t> Kommunikation Unterwasser </a:t>
            </a:r>
          </a:p>
          <a:p>
            <a:pPr>
              <a:buFontTx/>
              <a:buChar char="-"/>
            </a:pPr>
            <a:r>
              <a:rPr lang="de-DE" dirty="0"/>
              <a:t> Viele Patente für Verarbeitungsprozesse nach der Ernte</a:t>
            </a:r>
          </a:p>
          <a:p>
            <a:pPr>
              <a:buFontTx/>
              <a:buChar char="-"/>
            </a:pPr>
            <a:r>
              <a:rPr lang="de-DE" dirty="0"/>
              <a:t> Kein Roboter </a:t>
            </a:r>
            <a:r>
              <a:rPr lang="de-DE" dirty="0" err="1"/>
              <a:t>Säh-oder</a:t>
            </a:r>
            <a:r>
              <a:rPr lang="de-DE" dirty="0"/>
              <a:t> Ernteverfahren Patentiert</a:t>
            </a:r>
          </a:p>
          <a:p>
            <a:pPr>
              <a:buFontTx/>
              <a:buChar char="-"/>
            </a:pPr>
            <a:r>
              <a:rPr lang="de-DE" dirty="0"/>
              <a:t> Grün und Blaualgen vom Roboter bis zum Sammelverfahren patentiert</a:t>
            </a:r>
          </a:p>
          <a:p>
            <a:pPr>
              <a:buFontTx/>
              <a:buChar char="-"/>
            </a:pP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605F692-D4CF-404F-9375-0346CB92C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91" y="786910"/>
            <a:ext cx="3207101" cy="238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8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23B6203-3323-4168-A356-6BCF681C6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69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Wer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sind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wir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807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7F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DD7AA26-52C7-4759-880F-5BDA897B8ECA}"/>
              </a:ext>
            </a:extLst>
          </p:cNvPr>
          <p:cNvSpPr txBox="1"/>
          <p:nvPr/>
        </p:nvSpPr>
        <p:spPr>
          <a:xfrm>
            <a:off x="5265685" y="4282874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/>
              <a:t>Leon Schwarz 		 – CEO/Teamleitung</a:t>
            </a:r>
          </a:p>
          <a:p>
            <a:r>
              <a:rPr lang="de-DE" sz="2400" dirty="0"/>
              <a:t>Pascal Roschkowski – Controlling/Marktanalyse</a:t>
            </a:r>
          </a:p>
          <a:p>
            <a:r>
              <a:rPr lang="de-DE" sz="2400" dirty="0"/>
              <a:t>Tobias Röpke 		 – technischer Leiter</a:t>
            </a:r>
          </a:p>
          <a:p>
            <a:r>
              <a:rPr lang="de-DE" sz="2400" dirty="0"/>
              <a:t>Philipp Otto 		 – Marketing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8C79558-5612-4207-B3A0-B6CDBEEE295F}"/>
              </a:ext>
            </a:extLst>
          </p:cNvPr>
          <p:cNvSpPr txBox="1"/>
          <p:nvPr/>
        </p:nvSpPr>
        <p:spPr>
          <a:xfrm>
            <a:off x="1083430" y="3913541"/>
            <a:ext cx="38729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Gründung: 		Oktober 2020</a:t>
            </a:r>
          </a:p>
          <a:p>
            <a:r>
              <a:rPr lang="de-DE" sz="2400" dirty="0"/>
              <a:t>Mitarbeiter: 	4</a:t>
            </a:r>
          </a:p>
          <a:p>
            <a:endParaRPr lang="de-DE" sz="2400" dirty="0"/>
          </a:p>
          <a:p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392A4D7-C13D-46D3-B54C-2C678BB5956C}"/>
              </a:ext>
            </a:extLst>
          </p:cNvPr>
          <p:cNvSpPr txBox="1"/>
          <p:nvPr/>
        </p:nvSpPr>
        <p:spPr>
          <a:xfrm>
            <a:off x="3260801" y="1126390"/>
            <a:ext cx="567039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				C-Tech </a:t>
            </a:r>
          </a:p>
          <a:p>
            <a:r>
              <a:rPr lang="de-DE" sz="2400" dirty="0"/>
              <a:t>„modern </a:t>
            </a:r>
            <a:r>
              <a:rPr lang="de-DE" sz="2400" dirty="0" err="1"/>
              <a:t>problems</a:t>
            </a:r>
            <a:r>
              <a:rPr lang="de-DE" sz="2400" dirty="0"/>
              <a:t> </a:t>
            </a:r>
            <a:r>
              <a:rPr lang="de-DE" sz="2400" dirty="0" err="1"/>
              <a:t>require</a:t>
            </a:r>
            <a:r>
              <a:rPr lang="de-DE" sz="2400" dirty="0"/>
              <a:t> </a:t>
            </a:r>
            <a:r>
              <a:rPr lang="de-DE" sz="2400" dirty="0" err="1"/>
              <a:t>creative</a:t>
            </a:r>
            <a:r>
              <a:rPr lang="de-DE" sz="2400" dirty="0"/>
              <a:t> </a:t>
            </a:r>
            <a:r>
              <a:rPr lang="de-DE" sz="2400" dirty="0" err="1"/>
              <a:t>solutions</a:t>
            </a:r>
            <a:r>
              <a:rPr lang="de-DE" sz="2400" dirty="0"/>
              <a:t>“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BC71AB5-CA65-40C6-81CE-CC0F145BA1A5}"/>
              </a:ext>
            </a:extLst>
          </p:cNvPr>
          <p:cNvSpPr txBox="1"/>
          <p:nvPr/>
        </p:nvSpPr>
        <p:spPr>
          <a:xfrm>
            <a:off x="5265685" y="3913541"/>
            <a:ext cx="16043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unser Team:</a:t>
            </a:r>
          </a:p>
          <a:p>
            <a:endParaRPr lang="de-DE" sz="24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580D00A-E394-4E22-9EBC-3B743726ED1E}"/>
              </a:ext>
            </a:extLst>
          </p:cNvPr>
          <p:cNvSpPr/>
          <p:nvPr/>
        </p:nvSpPr>
        <p:spPr>
          <a:xfrm>
            <a:off x="949569" y="3913541"/>
            <a:ext cx="10304585" cy="2030059"/>
          </a:xfrm>
          <a:prstGeom prst="rect">
            <a:avLst/>
          </a:prstGeom>
          <a:noFill/>
          <a:ln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124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Was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machen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wir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732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CF3207A-A44B-4534-8EB6-8157AE90E4C4}"/>
              </a:ext>
            </a:extLst>
          </p:cNvPr>
          <p:cNvSpPr txBox="1"/>
          <p:nvPr/>
        </p:nvSpPr>
        <p:spPr>
          <a:xfrm>
            <a:off x="1892605" y="4134441"/>
            <a:ext cx="84067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Unterwassserdrohne zur automatisierten </a:t>
            </a:r>
          </a:p>
          <a:p>
            <a:r>
              <a:rPr lang="de-DE" sz="4000" dirty="0"/>
              <a:t>Ernte und Aussaat von Algen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2823CB7-D2CC-4286-86B7-F8BD1E7225CB}"/>
              </a:ext>
            </a:extLst>
          </p:cNvPr>
          <p:cNvSpPr txBox="1"/>
          <p:nvPr/>
        </p:nvSpPr>
        <p:spPr>
          <a:xfrm>
            <a:off x="1022166" y="978089"/>
            <a:ext cx="69530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dirty="0"/>
              <a:t>Groß Skalierbarer Anbau von Meeresalgen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Nutzung der Meeresflächen als Anbaugebiete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Reduzierung der Last auf terrestrischen Agrarflächen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6FA1436-912C-4633-BB55-C233FF997032}"/>
              </a:ext>
            </a:extLst>
          </p:cNvPr>
          <p:cNvSpPr/>
          <p:nvPr/>
        </p:nvSpPr>
        <p:spPr>
          <a:xfrm>
            <a:off x="1892605" y="4134441"/>
            <a:ext cx="8343348" cy="1467369"/>
          </a:xfrm>
          <a:prstGeom prst="rect">
            <a:avLst/>
          </a:prstGeom>
          <a:noFill/>
          <a:ln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0050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80CA426-D097-41B6-A081-DA8A2040F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059" y="859138"/>
            <a:ext cx="6615983" cy="496198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6DF43F7-955E-44DB-AD1F-B6AD16ED0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67" y="1131298"/>
            <a:ext cx="3181350" cy="952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D782B6C-B1DA-4D94-B233-90949DED62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2857" y="2666210"/>
            <a:ext cx="3488671" cy="33337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E14FEBE-B786-4B93-B89B-ABC23E85716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65" y="0"/>
            <a:ext cx="121740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6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C960394-7742-48A3-89C3-98E01E27FDD3}"/>
              </a:ext>
            </a:extLst>
          </p:cNvPr>
          <p:cNvSpPr txBox="1"/>
          <p:nvPr/>
        </p:nvSpPr>
        <p:spPr>
          <a:xfrm>
            <a:off x="8054623" y="860931"/>
            <a:ext cx="22740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dirty="0" err="1"/>
              <a:t>Flügeltang</a:t>
            </a:r>
            <a:endParaRPr lang="de-DE" sz="3600" dirty="0"/>
          </a:p>
          <a:p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Alaria</a:t>
            </a:r>
            <a:r>
              <a:rPr lang="de-DE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esculenta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de-DE" sz="36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F72F42C-AFC6-4626-959C-8C725BBE79BD}"/>
              </a:ext>
            </a:extLst>
          </p:cNvPr>
          <p:cNvSpPr txBox="1"/>
          <p:nvPr/>
        </p:nvSpPr>
        <p:spPr>
          <a:xfrm>
            <a:off x="1297902" y="795528"/>
            <a:ext cx="30516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dirty="0" err="1"/>
              <a:t>Zuckertang</a:t>
            </a:r>
            <a:endParaRPr lang="de-DE" sz="3600" dirty="0"/>
          </a:p>
          <a:p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Saccharina</a:t>
            </a:r>
            <a:r>
              <a:rPr lang="de-DE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latissima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de-DE" sz="36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BBEABAA-095E-4ACF-A394-20410BE82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902" y="2034326"/>
            <a:ext cx="3376612" cy="37226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CADC62F-F731-467E-A16D-3D77CD3C5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399" y="2264321"/>
            <a:ext cx="4001650" cy="32540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1FE9D9D-61BC-4018-ABAC-3C7E41CAF89F}"/>
              </a:ext>
            </a:extLst>
          </p:cNvPr>
          <p:cNvCxnSpPr>
            <a:cxnSpLocks/>
          </p:cNvCxnSpPr>
          <p:nvPr/>
        </p:nvCxnSpPr>
        <p:spPr>
          <a:xfrm>
            <a:off x="5783956" y="1164860"/>
            <a:ext cx="0" cy="4720125"/>
          </a:xfrm>
          <a:prstGeom prst="line">
            <a:avLst/>
          </a:prstGeom>
          <a:ln>
            <a:solidFill>
              <a:srgbClr val="C17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816CCAAB-D810-487B-8646-DFEE914A24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8" y="-1"/>
            <a:ext cx="12190004" cy="695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5B2B162-1BAF-4A76-8A5F-C5F192970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494"/>
            <a:ext cx="12192000" cy="634701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9101060-80F9-4F3E-B5C0-318E4541CA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749"/>
            <a:ext cx="12192000" cy="685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91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 descr="Asien mit einfarbiger Füllung">
            <a:extLst>
              <a:ext uri="{FF2B5EF4-FFF2-40B4-BE49-F238E27FC236}">
                <a16:creationId xmlns:a16="http://schemas.microsoft.com/office/drawing/2014/main" id="{C0087850-7846-47A8-A0D2-7CA5EBEC5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3771" y="2053242"/>
            <a:ext cx="3030632" cy="3030632"/>
          </a:xfrm>
          <a:prstGeom prst="rect">
            <a:avLst/>
          </a:prstGeom>
        </p:spPr>
      </p:pic>
      <p:pic>
        <p:nvPicPr>
          <p:cNvPr id="5" name="Grafik 4" descr="Europa mit einfarbiger Füllung">
            <a:extLst>
              <a:ext uri="{FF2B5EF4-FFF2-40B4-BE49-F238E27FC236}">
                <a16:creationId xmlns:a16="http://schemas.microsoft.com/office/drawing/2014/main" id="{1EBB8EAB-034A-4EE9-A41C-904740C38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6484" y="2121022"/>
            <a:ext cx="2430516" cy="243051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5E7F1D0-EB5E-4320-92F1-03D76C2BD6BA}"/>
              </a:ext>
            </a:extLst>
          </p:cNvPr>
          <p:cNvSpPr txBox="1"/>
          <p:nvPr/>
        </p:nvSpPr>
        <p:spPr>
          <a:xfrm>
            <a:off x="1807597" y="4545265"/>
            <a:ext cx="18738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Europa </a:t>
            </a:r>
          </a:p>
          <a:p>
            <a:endParaRPr lang="de-DE" sz="28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36A8B30-5611-4392-8591-A7AB383EE046}"/>
              </a:ext>
            </a:extLst>
          </p:cNvPr>
          <p:cNvSpPr txBox="1"/>
          <p:nvPr/>
        </p:nvSpPr>
        <p:spPr>
          <a:xfrm>
            <a:off x="5923722" y="4545265"/>
            <a:ext cx="54148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Asien (insbesondere China) </a:t>
            </a:r>
          </a:p>
          <a:p>
            <a:endParaRPr lang="de-DE" sz="28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F9D31C4-DEF2-405C-8495-A878AEA9930A}"/>
              </a:ext>
            </a:extLst>
          </p:cNvPr>
          <p:cNvSpPr txBox="1"/>
          <p:nvPr/>
        </p:nvSpPr>
        <p:spPr>
          <a:xfrm>
            <a:off x="988315" y="654304"/>
            <a:ext cx="62517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Zukünftige Kunden: </a:t>
            </a:r>
          </a:p>
          <a:p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2252628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84464B4-777A-44D4-9F5C-587DA8526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54" y="145846"/>
            <a:ext cx="11553092" cy="656630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D6DF9D8-AE83-44B2-BF47-6D60579FBE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75"/>
            <a:ext cx="12192000" cy="68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0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B9AEC49C-9D6A-4D5D-A2EC-730445758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6" y="87919"/>
            <a:ext cx="6910754" cy="6052275"/>
          </a:xfrm>
          <a:prstGeom prst="rect">
            <a:avLst/>
          </a:prstGeom>
          <a:effectLst/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D4C797F-6F0C-4934-9005-EF68B0E97695}"/>
              </a:ext>
            </a:extLst>
          </p:cNvPr>
          <p:cNvSpPr txBox="1"/>
          <p:nvPr/>
        </p:nvSpPr>
        <p:spPr>
          <a:xfrm rot="5400000">
            <a:off x="3279501" y="6141961"/>
            <a:ext cx="6122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…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3D31459-2584-4677-B6F8-9DA99127F894}"/>
              </a:ext>
            </a:extLst>
          </p:cNvPr>
          <p:cNvSpPr txBox="1"/>
          <p:nvPr/>
        </p:nvSpPr>
        <p:spPr>
          <a:xfrm>
            <a:off x="7042639" y="193430"/>
            <a:ext cx="4721470" cy="4154984"/>
          </a:xfrm>
          <a:prstGeom prst="rect">
            <a:avLst/>
          </a:prstGeom>
          <a:noFill/>
          <a:ln>
            <a:solidFill>
              <a:srgbClr val="C17F63"/>
            </a:solidFill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 Wichtigste Anforderungen: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Autonom Algen säen und ernten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Hochseeumgeben aushalten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Über modulare Werkzeuge verfügen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Sich kollisionsfrei in Umgebung fortbewegen können (andere Drohnen, Fische, Taucher,…)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Für den Kunden wirtschaftliche </a:t>
            </a:r>
          </a:p>
          <a:p>
            <a:r>
              <a:rPr lang="de-DE" sz="2400" dirty="0"/>
              <a:t>    Betriebskosten</a:t>
            </a:r>
          </a:p>
          <a:p>
            <a:r>
              <a:rPr lang="de-DE" sz="2400" dirty="0"/>
              <a:t>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09B40D7-5BA9-49C8-872E-20584B9A5B8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654"/>
            <a:ext cx="12192000" cy="685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21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211B05-7243-4EA5-9891-97FB775B4504}"/>
              </a:ext>
            </a:extLst>
          </p:cNvPr>
          <p:cNvSpPr txBox="1"/>
          <p:nvPr/>
        </p:nvSpPr>
        <p:spPr>
          <a:xfrm>
            <a:off x="5794475" y="3244334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QFD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CD8186F-0225-4428-BD5D-F6BCC0366B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3479"/>
            <a:ext cx="12192000" cy="683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56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135CF50-9DB2-4326-B939-CB698082CBC3}"/>
              </a:ext>
            </a:extLst>
          </p:cNvPr>
          <p:cNvSpPr txBox="1"/>
          <p:nvPr/>
        </p:nvSpPr>
        <p:spPr>
          <a:xfrm>
            <a:off x="5718845" y="3244334"/>
            <a:ext cx="75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Patent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3DE7ED3-3E8F-488E-BA41-0FE07DD2F5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721"/>
            <a:ext cx="12192000" cy="684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14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228F920-75D3-40D0-BE01-78D1BBBD5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51" y="85725"/>
            <a:ext cx="8900697" cy="668655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63CC021-7A2D-44F0-9E62-2470031076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6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72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2107E4D-9327-4A13-97E1-629B2BF17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36" y="90376"/>
            <a:ext cx="10536927" cy="667724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2FF6F9A-88B1-4470-B36F-B6F5FD84D4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2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792FD7F-141E-4729-BEEE-F077ED0C9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59" y="241084"/>
            <a:ext cx="11850882" cy="637583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864C132-7CD7-4ECF-872F-541AA36CBF2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50" y="0"/>
            <a:ext cx="12153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05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64EE381-6CA3-448B-B861-218962D3B872}"/>
              </a:ext>
            </a:extLst>
          </p:cNvPr>
          <p:cNvSpPr txBox="1"/>
          <p:nvPr/>
        </p:nvSpPr>
        <p:spPr>
          <a:xfrm>
            <a:off x="3348292" y="3167390"/>
            <a:ext cx="55739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Vielen Dank für eure Aufmerksamkeit!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BA26A6C-515C-480A-B62F-3125AFB1330E}"/>
              </a:ext>
            </a:extLst>
          </p:cNvPr>
          <p:cNvSpPr txBox="1"/>
          <p:nvPr/>
        </p:nvSpPr>
        <p:spPr>
          <a:xfrm>
            <a:off x="4705972" y="3198167"/>
            <a:ext cx="278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Gibt es noch Fragen?</a:t>
            </a:r>
          </a:p>
        </p:txBody>
      </p:sp>
    </p:spTree>
    <p:extLst>
      <p:ext uri="{BB962C8B-B14F-4D97-AF65-F5344CB8AC3E}">
        <p14:creationId xmlns:p14="http://schemas.microsoft.com/office/powerpoint/2010/main" val="200891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36636" y="643467"/>
            <a:ext cx="4871505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Anforderungen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05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976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Breitbild</PresentationFormat>
  <Paragraphs>43</Paragraphs>
  <Slides>20</Slides>
  <Notes>0</Notes>
  <HiddenSlides>3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5" baseType="lpstr">
      <vt:lpstr>Calibri</vt:lpstr>
      <vt:lpstr>Tw Cen MT</vt:lpstr>
      <vt:lpstr>Tw Cen MT Condensed</vt:lpstr>
      <vt:lpstr>Wingdings 3</vt:lpstr>
      <vt:lpstr>Integral</vt:lpstr>
      <vt:lpstr>Patentanalyse</vt:lpstr>
      <vt:lpstr>PowerPoint-Präsentation</vt:lpstr>
      <vt:lpstr>Wer sind wir?</vt:lpstr>
      <vt:lpstr>PowerPoint-Präsentation</vt:lpstr>
      <vt:lpstr>Was machen wir?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Anforderungen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Otto, Philipp Julian</dc:creator>
  <cp:lastModifiedBy>Tobias Röbke</cp:lastModifiedBy>
  <cp:revision>32</cp:revision>
  <dcterms:created xsi:type="dcterms:W3CDTF">2020-12-05T12:56:40Z</dcterms:created>
  <dcterms:modified xsi:type="dcterms:W3CDTF">2020-12-07T18:34:02Z</dcterms:modified>
</cp:coreProperties>
</file>
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4"/>
  </p:notesMasterIdLst>
  <p:sldIdLst>
    <p:sldId id="269" r:id="rId2"/>
    <p:sldId id="256" r:id="rId3"/>
    <p:sldId id="259" r:id="rId4"/>
    <p:sldId id="265" r:id="rId5"/>
    <p:sldId id="260" r:id="rId6"/>
    <p:sldId id="271" r:id="rId7"/>
    <p:sldId id="262" r:id="rId8"/>
    <p:sldId id="267" r:id="rId9"/>
    <p:sldId id="261" r:id="rId10"/>
    <p:sldId id="273" r:id="rId11"/>
    <p:sldId id="268" r:id="rId12"/>
    <p:sldId id="270" r:id="rId13"/>
    <p:sldId id="275" r:id="rId14"/>
    <p:sldId id="276" r:id="rId15"/>
    <p:sldId id="274" r:id="rId16"/>
    <p:sldId id="279" r:id="rId17"/>
    <p:sldId id="282" r:id="rId18"/>
    <p:sldId id="278" r:id="rId19"/>
    <p:sldId id="280" r:id="rId20"/>
    <p:sldId id="277" r:id="rId21"/>
    <p:sldId id="281" r:id="rId22"/>
    <p:sldId id="27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2B21"/>
    <a:srgbClr val="C17F63"/>
    <a:srgbClr val="4960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54" autoAdjust="0"/>
    <p:restoredTop sz="94660"/>
  </p:normalViewPr>
  <p:slideViewPr>
    <p:cSldViewPr snapToGrid="0">
      <p:cViewPr varScale="1">
        <p:scale>
          <a:sx n="84" d="100"/>
          <a:sy n="84" d="100"/>
        </p:scale>
        <p:origin x="126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08.11.2020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3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306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C307415-271F-4602-AC56-B1A2FA648715}"/>
              </a:ext>
            </a:extLst>
          </p:cNvPr>
          <p:cNvSpPr txBox="1"/>
          <p:nvPr/>
        </p:nvSpPr>
        <p:spPr>
          <a:xfrm>
            <a:off x="2454618" y="2875002"/>
            <a:ext cx="728276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600" dirty="0"/>
              <a:t>Die Rettung der Welt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E89EB-3BB1-4FFB-85CA-3155639EE2D5}"/>
              </a:ext>
            </a:extLst>
          </p:cNvPr>
          <p:cNvSpPr txBox="1"/>
          <p:nvPr/>
        </p:nvSpPr>
        <p:spPr>
          <a:xfrm>
            <a:off x="6714036" y="3982998"/>
            <a:ext cx="4230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Oder zumindest unseren Teil dazu beitragen</a:t>
            </a:r>
          </a:p>
        </p:txBody>
      </p:sp>
    </p:spTree>
    <p:extLst>
      <p:ext uri="{BB962C8B-B14F-4D97-AF65-F5344CB8AC3E}">
        <p14:creationId xmlns:p14="http://schemas.microsoft.com/office/powerpoint/2010/main" val="833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602763" y="2757112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753314-D3CC-4FB3-9850-E40F029DCB24}"/>
              </a:ext>
            </a:extLst>
          </p:cNvPr>
          <p:cNvSpPr txBox="1"/>
          <p:nvPr/>
        </p:nvSpPr>
        <p:spPr>
          <a:xfrm>
            <a:off x="841269" y="733859"/>
            <a:ext cx="4215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Die Problematik: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9C87F4-78F7-4B23-814B-895231947D52}"/>
              </a:ext>
            </a:extLst>
          </p:cNvPr>
          <p:cNvSpPr txBox="1"/>
          <p:nvPr/>
        </p:nvSpPr>
        <p:spPr>
          <a:xfrm>
            <a:off x="2850495" y="1446055"/>
            <a:ext cx="8817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Stetig wachsende Weltbevölkerung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schwimmend, grün, sitzend, haltend enthält.&#10;&#10;Automatisch generierte Beschreibung">
            <a:extLst>
              <a:ext uri="{FF2B5EF4-FFF2-40B4-BE49-F238E27FC236}">
                <a16:creationId xmlns:a16="http://schemas.microsoft.com/office/drawing/2014/main" id="{79A94BF5-5C1D-4210-B325-A8962E06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263115"/>
            <a:ext cx="9884664" cy="507307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DEB3FE-FEC3-4ACC-B79E-F749C8194B3C}"/>
              </a:ext>
            </a:extLst>
          </p:cNvPr>
          <p:cNvSpPr txBox="1"/>
          <p:nvPr/>
        </p:nvSpPr>
        <p:spPr>
          <a:xfrm>
            <a:off x="3439856" y="548422"/>
            <a:ext cx="5312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Automatisierte Algenfarmen</a:t>
            </a:r>
          </a:p>
        </p:txBody>
      </p:sp>
    </p:spTree>
    <p:extLst>
      <p:ext uri="{BB962C8B-B14F-4D97-AF65-F5344CB8AC3E}">
        <p14:creationId xmlns:p14="http://schemas.microsoft.com/office/powerpoint/2010/main" val="112858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5392632" y="729221"/>
            <a:ext cx="1406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D267863-88EC-494F-9EFE-675B08B57943}"/>
              </a:ext>
            </a:extLst>
          </p:cNvPr>
          <p:cNvSpPr txBox="1"/>
          <p:nvPr/>
        </p:nvSpPr>
        <p:spPr>
          <a:xfrm>
            <a:off x="1389419" y="1043804"/>
            <a:ext cx="2422779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Zielrahmen: </a:t>
            </a:r>
          </a:p>
          <a:p>
            <a:endParaRPr lang="de-DE" sz="3600" dirty="0"/>
          </a:p>
          <a:p>
            <a:endParaRPr lang="de-DE" sz="2800" dirty="0"/>
          </a:p>
          <a:p>
            <a:r>
              <a:rPr lang="de-DE" sz="2800" dirty="0"/>
              <a:t>Unsere Kunden </a:t>
            </a:r>
          </a:p>
          <a:p>
            <a:r>
              <a:rPr lang="de-DE" sz="2400" dirty="0"/>
              <a:t>		</a:t>
            </a:r>
          </a:p>
        </p:txBody>
      </p:sp>
      <p:pic>
        <p:nvPicPr>
          <p:cNvPr id="9" name="Grafik 8" descr="Hochspannung">
            <a:extLst>
              <a:ext uri="{FF2B5EF4-FFF2-40B4-BE49-F238E27FC236}">
                <a16:creationId xmlns:a16="http://schemas.microsoft.com/office/drawing/2014/main" id="{AD6DB117-5C71-42E4-BB4C-9420248F8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46638" y="2245178"/>
            <a:ext cx="914400" cy="914400"/>
          </a:xfrm>
          <a:prstGeom prst="rect">
            <a:avLst/>
          </a:prstGeom>
        </p:spPr>
      </p:pic>
      <p:pic>
        <p:nvPicPr>
          <p:cNvPr id="11" name="Grafik 10" descr="Abheben">
            <a:extLst>
              <a:ext uri="{FF2B5EF4-FFF2-40B4-BE49-F238E27FC236}">
                <a16:creationId xmlns:a16="http://schemas.microsoft.com/office/drawing/2014/main" id="{70B9ACE3-AFA7-4859-B3F9-148ED1178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9804" y="2371108"/>
            <a:ext cx="914400" cy="914400"/>
          </a:xfrm>
          <a:prstGeom prst="rect">
            <a:avLst/>
          </a:prstGeom>
        </p:spPr>
      </p:pic>
      <p:pic>
        <p:nvPicPr>
          <p:cNvPr id="13" name="Grafik 12" descr="Bauernhofszenerie">
            <a:extLst>
              <a:ext uri="{FF2B5EF4-FFF2-40B4-BE49-F238E27FC236}">
                <a16:creationId xmlns:a16="http://schemas.microsoft.com/office/drawing/2014/main" id="{E9F72A2E-0CEC-4882-97D5-3E8BD626E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0055" y="2245178"/>
            <a:ext cx="914400" cy="914400"/>
          </a:xfrm>
          <a:prstGeom prst="rect">
            <a:avLst/>
          </a:prstGeom>
        </p:spPr>
      </p:pic>
      <p:pic>
        <p:nvPicPr>
          <p:cNvPr id="15" name="Grafik 14" descr="Mikroskop">
            <a:extLst>
              <a:ext uri="{FF2B5EF4-FFF2-40B4-BE49-F238E27FC236}">
                <a16:creationId xmlns:a16="http://schemas.microsoft.com/office/drawing/2014/main" id="{2429ABAD-7034-4F2C-99D2-3B7619626B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63221" y="2235110"/>
            <a:ext cx="914400" cy="914400"/>
          </a:xfrm>
          <a:prstGeom prst="rect">
            <a:avLst/>
          </a:prstGeom>
        </p:spPr>
      </p:pic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21C266-8DEA-404B-9F71-DD606857ED66}"/>
              </a:ext>
            </a:extLst>
          </p:cNvPr>
          <p:cNvSpPr txBox="1"/>
          <p:nvPr/>
        </p:nvSpPr>
        <p:spPr>
          <a:xfrm>
            <a:off x="2215873" y="4099015"/>
            <a:ext cx="87759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Unbekannt starke Skalierbarkeit für das Bewirtschaften von </a:t>
            </a:r>
          </a:p>
          <a:p>
            <a:r>
              <a:rPr lang="de-DE" sz="2800" dirty="0"/>
              <a:t>			Algenfarmen in offenen Gewässern</a:t>
            </a:r>
          </a:p>
          <a:p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BB08CBF-3EA7-4AF5-9D70-9456A7DAA43E}"/>
              </a:ext>
            </a:extLst>
          </p:cNvPr>
          <p:cNvSpPr txBox="1"/>
          <p:nvPr/>
        </p:nvSpPr>
        <p:spPr>
          <a:xfrm>
            <a:off x="1389419" y="4099015"/>
            <a:ext cx="7601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USP</a:t>
            </a:r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6571EB4-7117-44B4-A73A-F00FB81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970614"/>
              </p:ext>
            </p:extLst>
          </p:nvPr>
        </p:nvGraphicFramePr>
        <p:xfrm>
          <a:off x="3212123" y="1572660"/>
          <a:ext cx="7580922" cy="4379697"/>
        </p:xfrm>
        <a:graphic>
          <a:graphicData uri="http://schemas.openxmlformats.org/drawingml/2006/table">
            <a:tbl>
              <a:tblPr firstRow="1" firstCol="1" bandRow="1"/>
              <a:tblGrid>
                <a:gridCol w="2070981">
                  <a:extLst>
                    <a:ext uri="{9D8B030D-6E8A-4147-A177-3AD203B41FA5}">
                      <a16:colId xmlns:a16="http://schemas.microsoft.com/office/drawing/2014/main" val="281993658"/>
                    </a:ext>
                  </a:extLst>
                </a:gridCol>
                <a:gridCol w="1853091">
                  <a:extLst>
                    <a:ext uri="{9D8B030D-6E8A-4147-A177-3AD203B41FA5}">
                      <a16:colId xmlns:a16="http://schemas.microsoft.com/office/drawing/2014/main" val="1584897720"/>
                    </a:ext>
                  </a:extLst>
                </a:gridCol>
                <a:gridCol w="1933258">
                  <a:extLst>
                    <a:ext uri="{9D8B030D-6E8A-4147-A177-3AD203B41FA5}">
                      <a16:colId xmlns:a16="http://schemas.microsoft.com/office/drawing/2014/main" val="1392341566"/>
                    </a:ext>
                  </a:extLst>
                </a:gridCol>
                <a:gridCol w="1723592">
                  <a:extLst>
                    <a:ext uri="{9D8B030D-6E8A-4147-A177-3AD203B41FA5}">
                      <a16:colId xmlns:a16="http://schemas.microsoft.com/office/drawing/2014/main" val="2399818563"/>
                    </a:ext>
                  </a:extLst>
                </a:gridCol>
              </a:tblGrid>
              <a:tr h="30940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Vernachlässigbar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Wettbewerbsfähig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Best in Class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861444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Betriebskosten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43949"/>
                  </a:ext>
                </a:extLst>
              </a:tr>
              <a:tr h="8164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Anschaffungskosten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679711"/>
                  </a:ext>
                </a:extLst>
              </a:tr>
              <a:tr h="7212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Skalierbarkeit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4441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Zuverlässigkeit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579195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Ertragsfähigkeit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113086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Standzeit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Sähautomat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697970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685800" y="79552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Produktleistungsprofil</a:t>
            </a:r>
          </a:p>
        </p:txBody>
      </p: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Objekt 2">
            <a:extLst>
              <a:ext uri="{FF2B5EF4-FFF2-40B4-BE49-F238E27FC236}">
                <a16:creationId xmlns:a16="http://schemas.microsoft.com/office/drawing/2014/main" id="{78B8B28C-F391-4BAA-95C0-C07F070C353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1719658"/>
              </p:ext>
            </p:extLst>
          </p:nvPr>
        </p:nvGraphicFramePr>
        <p:xfrm>
          <a:off x="5650018" y="0"/>
          <a:ext cx="6613699" cy="84926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4" name="Acrobat Document" r:id="rId3" imgW="4533723" imgH="6415677" progId="AcroExch.Document.DC">
                  <p:embed/>
                </p:oleObj>
              </mc:Choice>
              <mc:Fallback>
                <p:oleObj name="Acrobat Document" r:id="rId3" imgW="4533723" imgH="6415677" progId="AcroExch.Document.DC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650018" y="0"/>
                        <a:ext cx="6613699" cy="84926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8805725C-FB5B-41BF-AC74-B7E7880C0711}"/>
              </a:ext>
            </a:extLst>
          </p:cNvPr>
          <p:cNvSpPr txBox="1"/>
          <p:nvPr/>
        </p:nvSpPr>
        <p:spPr>
          <a:xfrm>
            <a:off x="1079319" y="786071"/>
            <a:ext cx="2711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Projektplan </a:t>
            </a:r>
          </a:p>
        </p:txBody>
      </p:sp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A5F0F5E-B04C-41F7-B2C0-EEB52A279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962" y="1443037"/>
            <a:ext cx="6696075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1B840C9-8DB1-4610-A075-0F508736EED5}"/>
              </a:ext>
            </a:extLst>
          </p:cNvPr>
          <p:cNvSpPr txBox="1"/>
          <p:nvPr/>
        </p:nvSpPr>
        <p:spPr>
          <a:xfrm>
            <a:off x="778165" y="1127999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Die wichtigsten Einflüsse: 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F4A3126-A246-4229-96C3-DE151E3A2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267" y="2106801"/>
            <a:ext cx="10939466" cy="35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69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C528B80-94F5-4FBA-8713-0C76A5C73DE8}"/>
              </a:ext>
            </a:extLst>
          </p:cNvPr>
          <p:cNvSpPr txBox="1"/>
          <p:nvPr/>
        </p:nvSpPr>
        <p:spPr>
          <a:xfrm>
            <a:off x="1350818" y="1164860"/>
            <a:ext cx="4083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Szenarien</a:t>
            </a:r>
          </a:p>
        </p:txBody>
      </p:sp>
    </p:spTree>
    <p:extLst>
      <p:ext uri="{BB962C8B-B14F-4D97-AF65-F5344CB8AC3E}">
        <p14:creationId xmlns:p14="http://schemas.microsoft.com/office/powerpoint/2010/main" val="3299307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D13523C-C1F4-4BB6-8D95-183DA889E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137" y="100012"/>
            <a:ext cx="9991725" cy="665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29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691BE55-BF9B-45C3-8197-BB12E04BA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" y="1028700"/>
            <a:ext cx="1106805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13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1739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285</Words>
  <Application>Microsoft Office PowerPoint</Application>
  <PresentationFormat>Breitbild</PresentationFormat>
  <Paragraphs>92</Paragraphs>
  <Slides>22</Slides>
  <Notes>0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8" baseType="lpstr">
      <vt:lpstr>Calibri</vt:lpstr>
      <vt:lpstr>Tw Cen MT</vt:lpstr>
      <vt:lpstr>Tw Cen MT Condensed</vt:lpstr>
      <vt:lpstr>Wingdings 3</vt:lpstr>
      <vt:lpstr>Integral</vt:lpstr>
      <vt:lpstr>Acrobat Document</vt:lpstr>
      <vt:lpstr>PowerPoint-Präsentation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32</cp:revision>
  <dcterms:created xsi:type="dcterms:W3CDTF">2020-11-02T11:25:11Z</dcterms:created>
  <dcterms:modified xsi:type="dcterms:W3CDTF">2020-11-08T18:36:57Z</dcterms:modified>
</cp:coreProperties>
</file>
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25"/>
  </p:notesMasterIdLst>
  <p:sldIdLst>
    <p:sldId id="256" r:id="rId2"/>
    <p:sldId id="259" r:id="rId3"/>
    <p:sldId id="265" r:id="rId4"/>
    <p:sldId id="260" r:id="rId5"/>
    <p:sldId id="271" r:id="rId6"/>
    <p:sldId id="262" r:id="rId7"/>
    <p:sldId id="267" r:id="rId8"/>
    <p:sldId id="261" r:id="rId9"/>
    <p:sldId id="273" r:id="rId10"/>
    <p:sldId id="268" r:id="rId11"/>
    <p:sldId id="283" r:id="rId12"/>
    <p:sldId id="270" r:id="rId13"/>
    <p:sldId id="275" r:id="rId14"/>
    <p:sldId id="276" r:id="rId15"/>
    <p:sldId id="274" r:id="rId16"/>
    <p:sldId id="279" r:id="rId17"/>
    <p:sldId id="284" r:id="rId18"/>
    <p:sldId id="282" r:id="rId19"/>
    <p:sldId id="278" r:id="rId20"/>
    <p:sldId id="280" r:id="rId21"/>
    <p:sldId id="277" r:id="rId22"/>
    <p:sldId id="281" r:id="rId23"/>
    <p:sldId id="272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60A6"/>
    <a:srgbClr val="2E2B21"/>
    <a:srgbClr val="C17F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54" autoAdjust="0"/>
    <p:restoredTop sz="94660"/>
  </p:normalViewPr>
  <p:slideViewPr>
    <p:cSldViewPr snapToGrid="0">
      <p:cViewPr varScale="1">
        <p:scale>
          <a:sx n="92" d="100"/>
          <a:sy n="92" d="100"/>
        </p:scale>
        <p:origin x="66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10.11.2020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5738241" y="412598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Leon Schwarz 		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Röpke 		 – technischer Leiter</a:t>
            </a:r>
          </a:p>
          <a:p>
            <a:r>
              <a:rPr lang="de-DE" sz="2400" dirty="0"/>
              <a:t>Philipp Otto 		 – Marketing 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8C79558-5612-4207-B3A0-B6CDBEEE295F}"/>
              </a:ext>
            </a:extLst>
          </p:cNvPr>
          <p:cNvSpPr txBox="1"/>
          <p:nvPr/>
        </p:nvSpPr>
        <p:spPr>
          <a:xfrm>
            <a:off x="721119" y="4172146"/>
            <a:ext cx="477861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Gründung: 		Oktober 2020</a:t>
            </a:r>
          </a:p>
          <a:p>
            <a:r>
              <a:rPr lang="de-DE" sz="2400" dirty="0"/>
              <a:t>Mitarbeiter: 	4</a:t>
            </a:r>
          </a:p>
          <a:p>
            <a:r>
              <a:rPr lang="de-DE" sz="2400" dirty="0"/>
              <a:t>geschätzter 	Firmenwert: 200.000€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92A4D7-C13D-46D3-B54C-2C678BB5956C}"/>
              </a:ext>
            </a:extLst>
          </p:cNvPr>
          <p:cNvSpPr txBox="1"/>
          <p:nvPr/>
        </p:nvSpPr>
        <p:spPr>
          <a:xfrm>
            <a:off x="3260801" y="1126390"/>
            <a:ext cx="5670398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dirty="0"/>
              <a:t>				C-Tech </a:t>
            </a:r>
          </a:p>
          <a:p>
            <a:r>
              <a:rPr lang="de-DE" sz="2400" dirty="0"/>
              <a:t>„modern </a:t>
            </a:r>
            <a:r>
              <a:rPr lang="de-DE" sz="2400" dirty="0" err="1"/>
              <a:t>problems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creative</a:t>
            </a:r>
            <a:r>
              <a:rPr lang="de-DE" sz="2400" dirty="0"/>
              <a:t> </a:t>
            </a:r>
            <a:r>
              <a:rPr lang="de-DE" sz="2400" dirty="0" err="1"/>
              <a:t>solutions</a:t>
            </a:r>
            <a:r>
              <a:rPr lang="de-DE" sz="2400" dirty="0"/>
              <a:t>“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C71AB5-CA65-40C6-81CE-CC0F145BA1A5}"/>
              </a:ext>
            </a:extLst>
          </p:cNvPr>
          <p:cNvSpPr txBox="1"/>
          <p:nvPr/>
        </p:nvSpPr>
        <p:spPr>
          <a:xfrm>
            <a:off x="5738241" y="3756647"/>
            <a:ext cx="16043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unser Team:</a:t>
            </a:r>
          </a:p>
          <a:p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C307415-271F-4602-AC56-B1A2FA648715}"/>
              </a:ext>
            </a:extLst>
          </p:cNvPr>
          <p:cNvSpPr txBox="1"/>
          <p:nvPr/>
        </p:nvSpPr>
        <p:spPr>
          <a:xfrm>
            <a:off x="2454618" y="2875002"/>
            <a:ext cx="7282763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600" dirty="0"/>
              <a:t>Die Rettung der Welt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CE89EB-3BB1-4FFB-85CA-3155639EE2D5}"/>
              </a:ext>
            </a:extLst>
          </p:cNvPr>
          <p:cNvSpPr txBox="1"/>
          <p:nvPr/>
        </p:nvSpPr>
        <p:spPr>
          <a:xfrm>
            <a:off x="6714036" y="3982998"/>
            <a:ext cx="4230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Oder zumindest unseren Teil dazu beitragen</a:t>
            </a:r>
          </a:p>
        </p:txBody>
      </p:sp>
    </p:spTree>
    <p:extLst>
      <p:ext uri="{BB962C8B-B14F-4D97-AF65-F5344CB8AC3E}">
        <p14:creationId xmlns:p14="http://schemas.microsoft.com/office/powerpoint/2010/main" val="833746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602763" y="2757112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2753314-D3CC-4FB3-9850-E40F029DCB24}"/>
              </a:ext>
            </a:extLst>
          </p:cNvPr>
          <p:cNvSpPr txBox="1"/>
          <p:nvPr/>
        </p:nvSpPr>
        <p:spPr>
          <a:xfrm>
            <a:off x="841269" y="733859"/>
            <a:ext cx="4215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Die Problematik: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59C87F4-78F7-4B23-814B-895231947D52}"/>
              </a:ext>
            </a:extLst>
          </p:cNvPr>
          <p:cNvSpPr txBox="1"/>
          <p:nvPr/>
        </p:nvSpPr>
        <p:spPr>
          <a:xfrm>
            <a:off x="2850495" y="1446055"/>
            <a:ext cx="88177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/>
              <a:t>Stetig wachsende Weltbevölkerung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schwimmend, grün, sitzend, haltend enthält.&#10;&#10;Automatisch generierte Beschreibung">
            <a:extLst>
              <a:ext uri="{FF2B5EF4-FFF2-40B4-BE49-F238E27FC236}">
                <a16:creationId xmlns:a16="http://schemas.microsoft.com/office/drawing/2014/main" id="{79A94BF5-5C1D-4210-B325-A8962E06FB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668" y="1263115"/>
            <a:ext cx="9884664" cy="5073075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E5DEB3FE-FEC3-4ACC-B79E-F749C8194B3C}"/>
              </a:ext>
            </a:extLst>
          </p:cNvPr>
          <p:cNvSpPr txBox="1"/>
          <p:nvPr/>
        </p:nvSpPr>
        <p:spPr>
          <a:xfrm>
            <a:off x="3439856" y="548422"/>
            <a:ext cx="53122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Automatisierte Algenfarmen</a:t>
            </a:r>
          </a:p>
        </p:txBody>
      </p:sp>
    </p:spTree>
    <p:extLst>
      <p:ext uri="{BB962C8B-B14F-4D97-AF65-F5344CB8AC3E}">
        <p14:creationId xmlns:p14="http://schemas.microsoft.com/office/powerpoint/2010/main" val="112858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5392632" y="729221"/>
            <a:ext cx="14067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4" name="Grafik 3" descr="Bauernhofszenerie">
            <a:extLst>
              <a:ext uri="{FF2B5EF4-FFF2-40B4-BE49-F238E27FC236}">
                <a16:creationId xmlns:a16="http://schemas.microsoft.com/office/drawing/2014/main" id="{6C5F4E65-3FBD-4426-8449-563118469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6611" y="1484600"/>
            <a:ext cx="1206477" cy="1206477"/>
          </a:xfrm>
          <a:prstGeom prst="rect">
            <a:avLst/>
          </a:prstGeom>
        </p:spPr>
      </p:pic>
      <p:pic>
        <p:nvPicPr>
          <p:cNvPr id="8" name="Grafik 7" descr="Seetang">
            <a:extLst>
              <a:ext uri="{FF2B5EF4-FFF2-40B4-BE49-F238E27FC236}">
                <a16:creationId xmlns:a16="http://schemas.microsoft.com/office/drawing/2014/main" id="{44ECA660-3DA1-4974-8250-DA9CD4A1B9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65953" y="3643195"/>
            <a:ext cx="1206477" cy="1206477"/>
          </a:xfrm>
          <a:prstGeom prst="rect">
            <a:avLst/>
          </a:prstGeom>
        </p:spPr>
      </p:pic>
      <p:pic>
        <p:nvPicPr>
          <p:cNvPr id="10" name="Grafik 9" descr="Zurück">
            <a:extLst>
              <a:ext uri="{FF2B5EF4-FFF2-40B4-BE49-F238E27FC236}">
                <a16:creationId xmlns:a16="http://schemas.microsoft.com/office/drawing/2014/main" id="{F8B1C1C4-3DEE-4382-A91F-21759342F36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4765067">
            <a:off x="8300337" y="2453673"/>
            <a:ext cx="1206477" cy="1206477"/>
          </a:xfrm>
          <a:prstGeom prst="rect">
            <a:avLst/>
          </a:prstGeom>
        </p:spPr>
      </p:pic>
      <p:pic>
        <p:nvPicPr>
          <p:cNvPr id="11" name="Grafik 10" descr="Zurück">
            <a:extLst>
              <a:ext uri="{FF2B5EF4-FFF2-40B4-BE49-F238E27FC236}">
                <a16:creationId xmlns:a16="http://schemas.microsoft.com/office/drawing/2014/main" id="{C5D3DDEB-3253-4BB8-8E71-705FAF6FC2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2309436">
            <a:off x="6766673" y="4291231"/>
            <a:ext cx="1206477" cy="1206477"/>
          </a:xfrm>
          <a:prstGeom prst="rect">
            <a:avLst/>
          </a:prstGeom>
        </p:spPr>
      </p:pic>
      <p:pic>
        <p:nvPicPr>
          <p:cNvPr id="12" name="Grafik 11" descr="Zurück">
            <a:extLst>
              <a:ext uri="{FF2B5EF4-FFF2-40B4-BE49-F238E27FC236}">
                <a16:creationId xmlns:a16="http://schemas.microsoft.com/office/drawing/2014/main" id="{80E7608F-D860-4B72-83F4-2A7F403175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0455584">
            <a:off x="5751999" y="2245699"/>
            <a:ext cx="1206477" cy="1206477"/>
          </a:xfrm>
          <a:prstGeom prst="rect">
            <a:avLst/>
          </a:prstGeom>
        </p:spPr>
      </p:pic>
      <p:pic>
        <p:nvPicPr>
          <p:cNvPr id="16" name="Grafik 15" descr="Welle">
            <a:extLst>
              <a:ext uri="{FF2B5EF4-FFF2-40B4-BE49-F238E27FC236}">
                <a16:creationId xmlns:a16="http://schemas.microsoft.com/office/drawing/2014/main" id="{D599114F-3911-4EB2-A4FF-F98D45AF27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11411" y="3661765"/>
            <a:ext cx="1206477" cy="1206477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2296DC10-F4A0-4542-BF55-5A218C87882A}"/>
              </a:ext>
            </a:extLst>
          </p:cNvPr>
          <p:cNvSpPr txBox="1"/>
          <p:nvPr/>
        </p:nvSpPr>
        <p:spPr>
          <a:xfrm>
            <a:off x="1113556" y="1161434"/>
            <a:ext cx="41218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Positiver Nebeneffekt</a:t>
            </a:r>
          </a:p>
        </p:txBody>
      </p:sp>
    </p:spTree>
    <p:extLst>
      <p:ext uri="{BB962C8B-B14F-4D97-AF65-F5344CB8AC3E}">
        <p14:creationId xmlns:p14="http://schemas.microsoft.com/office/powerpoint/2010/main" val="1536746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908436" y="85913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D267863-88EC-494F-9EFE-675B08B57943}"/>
              </a:ext>
            </a:extLst>
          </p:cNvPr>
          <p:cNvSpPr txBox="1"/>
          <p:nvPr/>
        </p:nvSpPr>
        <p:spPr>
          <a:xfrm>
            <a:off x="1389419" y="1043804"/>
            <a:ext cx="2422779" cy="24314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Zielrahmen: </a:t>
            </a:r>
          </a:p>
          <a:p>
            <a:endParaRPr lang="de-DE" sz="3600" dirty="0"/>
          </a:p>
          <a:p>
            <a:endParaRPr lang="de-DE" sz="2800" dirty="0"/>
          </a:p>
          <a:p>
            <a:r>
              <a:rPr lang="de-DE" sz="2800" dirty="0"/>
              <a:t>Unsere Kunden </a:t>
            </a:r>
          </a:p>
          <a:p>
            <a:r>
              <a:rPr lang="de-DE" sz="2400" dirty="0"/>
              <a:t>		</a:t>
            </a:r>
          </a:p>
        </p:txBody>
      </p:sp>
      <p:pic>
        <p:nvPicPr>
          <p:cNvPr id="9" name="Grafik 8" descr="Hochspannung">
            <a:extLst>
              <a:ext uri="{FF2B5EF4-FFF2-40B4-BE49-F238E27FC236}">
                <a16:creationId xmlns:a16="http://schemas.microsoft.com/office/drawing/2014/main" id="{AD6DB117-5C71-42E4-BB4C-9420248F83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46638" y="2245178"/>
            <a:ext cx="914400" cy="914400"/>
          </a:xfrm>
          <a:prstGeom prst="rect">
            <a:avLst/>
          </a:prstGeom>
        </p:spPr>
      </p:pic>
      <p:pic>
        <p:nvPicPr>
          <p:cNvPr id="11" name="Grafik 10" descr="Abheben">
            <a:extLst>
              <a:ext uri="{FF2B5EF4-FFF2-40B4-BE49-F238E27FC236}">
                <a16:creationId xmlns:a16="http://schemas.microsoft.com/office/drawing/2014/main" id="{70B9ACE3-AFA7-4859-B3F9-148ED1178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9804" y="2371108"/>
            <a:ext cx="914400" cy="914400"/>
          </a:xfrm>
          <a:prstGeom prst="rect">
            <a:avLst/>
          </a:prstGeom>
        </p:spPr>
      </p:pic>
      <p:pic>
        <p:nvPicPr>
          <p:cNvPr id="13" name="Grafik 12" descr="Bauernhofszenerie">
            <a:extLst>
              <a:ext uri="{FF2B5EF4-FFF2-40B4-BE49-F238E27FC236}">
                <a16:creationId xmlns:a16="http://schemas.microsoft.com/office/drawing/2014/main" id="{E9F72A2E-0CEC-4882-97D5-3E8BD626EA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30055" y="2245178"/>
            <a:ext cx="914400" cy="914400"/>
          </a:xfrm>
          <a:prstGeom prst="rect">
            <a:avLst/>
          </a:prstGeom>
        </p:spPr>
      </p:pic>
      <p:pic>
        <p:nvPicPr>
          <p:cNvPr id="15" name="Grafik 14" descr="Mikroskop">
            <a:extLst>
              <a:ext uri="{FF2B5EF4-FFF2-40B4-BE49-F238E27FC236}">
                <a16:creationId xmlns:a16="http://schemas.microsoft.com/office/drawing/2014/main" id="{2429ABAD-7034-4F2C-99D2-3B7619626BA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63221" y="2235110"/>
            <a:ext cx="914400" cy="914400"/>
          </a:xfrm>
          <a:prstGeom prst="rect">
            <a:avLst/>
          </a:prstGeom>
        </p:spPr>
      </p:pic>
      <p:sp>
        <p:nvSpPr>
          <p:cNvPr id="19" name="Rectangle 4">
            <a:extLst>
              <a:ext uri="{FF2B5EF4-FFF2-40B4-BE49-F238E27FC236}">
                <a16:creationId xmlns:a16="http://schemas.microsoft.com/office/drawing/2014/main" id="{684E42DA-56F2-4FDE-9B8B-ACCE960744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207" y="283224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D21C266-8DEA-404B-9F71-DD606857ED66}"/>
              </a:ext>
            </a:extLst>
          </p:cNvPr>
          <p:cNvSpPr txBox="1"/>
          <p:nvPr/>
        </p:nvSpPr>
        <p:spPr>
          <a:xfrm>
            <a:off x="2215873" y="4099015"/>
            <a:ext cx="877592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Unbekannt starke Skalierbarkeit für das Bewirtschaften von </a:t>
            </a:r>
          </a:p>
          <a:p>
            <a:r>
              <a:rPr lang="de-DE" sz="2800" dirty="0"/>
              <a:t>			Algenfarmen in offenen Gewässern</a:t>
            </a:r>
          </a:p>
          <a:p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BB08CBF-3EA7-4AF5-9D70-9456A7DAA43E}"/>
              </a:ext>
            </a:extLst>
          </p:cNvPr>
          <p:cNvSpPr txBox="1"/>
          <p:nvPr/>
        </p:nvSpPr>
        <p:spPr>
          <a:xfrm>
            <a:off x="1389419" y="4099015"/>
            <a:ext cx="7601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USP</a:t>
            </a:r>
          </a:p>
        </p:txBody>
      </p:sp>
    </p:spTree>
    <p:extLst>
      <p:ext uri="{BB962C8B-B14F-4D97-AF65-F5344CB8AC3E}">
        <p14:creationId xmlns:p14="http://schemas.microsoft.com/office/powerpoint/2010/main" val="273398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16571EB4-7117-44B4-A73A-F00FB81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046795"/>
              </p:ext>
            </p:extLst>
          </p:nvPr>
        </p:nvGraphicFramePr>
        <p:xfrm>
          <a:off x="3212123" y="1572660"/>
          <a:ext cx="7580922" cy="4356384"/>
        </p:xfrm>
        <a:graphic>
          <a:graphicData uri="http://schemas.openxmlformats.org/drawingml/2006/table">
            <a:tbl>
              <a:tblPr firstRow="1" firstCol="1" bandRow="1"/>
              <a:tblGrid>
                <a:gridCol w="2070981">
                  <a:extLst>
                    <a:ext uri="{9D8B030D-6E8A-4147-A177-3AD203B41FA5}">
                      <a16:colId xmlns:a16="http://schemas.microsoft.com/office/drawing/2014/main" val="281993658"/>
                    </a:ext>
                  </a:extLst>
                </a:gridCol>
                <a:gridCol w="1853091">
                  <a:extLst>
                    <a:ext uri="{9D8B030D-6E8A-4147-A177-3AD203B41FA5}">
                      <a16:colId xmlns:a16="http://schemas.microsoft.com/office/drawing/2014/main" val="1584897720"/>
                    </a:ext>
                  </a:extLst>
                </a:gridCol>
                <a:gridCol w="1933258">
                  <a:extLst>
                    <a:ext uri="{9D8B030D-6E8A-4147-A177-3AD203B41FA5}">
                      <a16:colId xmlns:a16="http://schemas.microsoft.com/office/drawing/2014/main" val="1392341566"/>
                    </a:ext>
                  </a:extLst>
                </a:gridCol>
                <a:gridCol w="1723592">
                  <a:extLst>
                    <a:ext uri="{9D8B030D-6E8A-4147-A177-3AD203B41FA5}">
                      <a16:colId xmlns:a16="http://schemas.microsoft.com/office/drawing/2014/main" val="2399818563"/>
                    </a:ext>
                  </a:extLst>
                </a:gridCol>
              </a:tblGrid>
              <a:tr h="30940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Vernachlässigbar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Wettbewerbsfähig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Best in Class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5861444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Betriebskosten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943949"/>
                  </a:ext>
                </a:extLst>
              </a:tr>
              <a:tr h="8164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Anschaffungskosten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B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679711"/>
                  </a:ext>
                </a:extLst>
              </a:tr>
              <a:tr h="7212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Skalierbarkeit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1744415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Zuverlässigkeit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5791955"/>
                  </a:ext>
                </a:extLst>
              </a:tr>
              <a:tr h="6098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Ertragsfähigkeit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1113086"/>
                  </a:ext>
                </a:extLst>
              </a:tr>
              <a:tr h="6331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Standzeit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4472C4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Arbeiter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538135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Ernteschiff</a:t>
                      </a:r>
                      <a:r>
                        <a:rPr lang="de-DE" sz="14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de-DE" sz="1400" b="1" dirty="0" err="1">
                          <a:solidFill>
                            <a:srgbClr val="BF8F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Säautomat</a:t>
                      </a:r>
                      <a:endParaRPr lang="de-DE" sz="14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de-DE" sz="1400" b="1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Wir</a:t>
                      </a:r>
                      <a:endParaRPr lang="de-DE" sz="1100" b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2697970"/>
                  </a:ext>
                </a:extLst>
              </a:tr>
            </a:tbl>
          </a:graphicData>
        </a:graphic>
      </p:graphicFrame>
      <p:sp>
        <p:nvSpPr>
          <p:cNvPr id="8" name="Textfeld 7">
            <a:extLst>
              <a:ext uri="{FF2B5EF4-FFF2-40B4-BE49-F238E27FC236}">
                <a16:creationId xmlns:a16="http://schemas.microsoft.com/office/drawing/2014/main" id="{2F19C88A-07F7-4F3D-B848-47DCC38A9975}"/>
              </a:ext>
            </a:extLst>
          </p:cNvPr>
          <p:cNvSpPr txBox="1"/>
          <p:nvPr/>
        </p:nvSpPr>
        <p:spPr>
          <a:xfrm>
            <a:off x="685800" y="65702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600" dirty="0"/>
              <a:t>Produktleistungsprofil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930BF53-ED89-4708-B4EA-B2F1F0E13D34}"/>
              </a:ext>
            </a:extLst>
          </p:cNvPr>
          <p:cNvCxnSpPr>
            <a:cxnSpLocks/>
          </p:cNvCxnSpPr>
          <p:nvPr/>
        </p:nvCxnSpPr>
        <p:spPr>
          <a:xfrm flipV="1">
            <a:off x="5522259" y="2068606"/>
            <a:ext cx="1806388" cy="459441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720249DD-C59E-42BF-B52C-078C46485CBD}"/>
              </a:ext>
            </a:extLst>
          </p:cNvPr>
          <p:cNvCxnSpPr>
            <a:cxnSpLocks/>
          </p:cNvCxnSpPr>
          <p:nvPr/>
        </p:nvCxnSpPr>
        <p:spPr>
          <a:xfrm>
            <a:off x="5522259" y="2725270"/>
            <a:ext cx="3715080" cy="59951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2A922A-02F9-49D5-8982-B524EB08F0AE}"/>
              </a:ext>
            </a:extLst>
          </p:cNvPr>
          <p:cNvCxnSpPr>
            <a:cxnSpLocks/>
          </p:cNvCxnSpPr>
          <p:nvPr/>
        </p:nvCxnSpPr>
        <p:spPr>
          <a:xfrm flipV="1">
            <a:off x="7386918" y="3562350"/>
            <a:ext cx="1850421" cy="48969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6D10E1FC-CFAA-4C2E-BD55-B62860D31637}"/>
              </a:ext>
            </a:extLst>
          </p:cNvPr>
          <p:cNvCxnSpPr>
            <a:cxnSpLocks/>
          </p:cNvCxnSpPr>
          <p:nvPr/>
        </p:nvCxnSpPr>
        <p:spPr>
          <a:xfrm>
            <a:off x="7295387" y="4258237"/>
            <a:ext cx="0" cy="42133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3CD27032-F2E7-46CC-A34A-0A6F90A4F31C}"/>
              </a:ext>
            </a:extLst>
          </p:cNvPr>
          <p:cNvCxnSpPr>
            <a:cxnSpLocks/>
          </p:cNvCxnSpPr>
          <p:nvPr/>
        </p:nvCxnSpPr>
        <p:spPr>
          <a:xfrm>
            <a:off x="7295387" y="4917142"/>
            <a:ext cx="1941952" cy="3681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160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2B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8805725C-FB5B-41BF-AC74-B7E7880C0711}"/>
              </a:ext>
            </a:extLst>
          </p:cNvPr>
          <p:cNvSpPr txBox="1"/>
          <p:nvPr/>
        </p:nvSpPr>
        <p:spPr>
          <a:xfrm>
            <a:off x="1079319" y="786071"/>
            <a:ext cx="2711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Projektplan 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1CA8343B-E998-4EB1-9992-B144FFCA6DA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8" b="28718"/>
          <a:stretch/>
        </p:blipFill>
        <p:spPr>
          <a:xfrm>
            <a:off x="4654887" y="531148"/>
            <a:ext cx="6457794" cy="5795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916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7688997-D297-4FB3-A44E-18FF72DFD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4298" y="1464188"/>
            <a:ext cx="7983403" cy="481307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9CBC7B0-6724-4729-9107-59C9AADBB25D}"/>
              </a:ext>
            </a:extLst>
          </p:cNvPr>
          <p:cNvSpPr txBox="1"/>
          <p:nvPr/>
        </p:nvSpPr>
        <p:spPr>
          <a:xfrm>
            <a:off x="870531" y="657028"/>
            <a:ext cx="3343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SWOT - Analyse</a:t>
            </a:r>
          </a:p>
        </p:txBody>
      </p:sp>
    </p:spTree>
    <p:extLst>
      <p:ext uri="{BB962C8B-B14F-4D97-AF65-F5344CB8AC3E}">
        <p14:creationId xmlns:p14="http://schemas.microsoft.com/office/powerpoint/2010/main" val="2295576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9CBC7B0-6724-4729-9107-59C9AADBB25D}"/>
              </a:ext>
            </a:extLst>
          </p:cNvPr>
          <p:cNvSpPr txBox="1"/>
          <p:nvPr/>
        </p:nvSpPr>
        <p:spPr>
          <a:xfrm>
            <a:off x="870531" y="657028"/>
            <a:ext cx="80248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SWOT – Analyse Kombinierte Darstellung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32DAEE3-32D8-4FD8-BF50-B00DB6631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8890" y="1480327"/>
            <a:ext cx="7574219" cy="4711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960B7C84-A8B8-4740-9086-ACD4DDC4C6B4}"/>
              </a:ext>
            </a:extLst>
          </p:cNvPr>
          <p:cNvSpPr txBox="1"/>
          <p:nvPr/>
        </p:nvSpPr>
        <p:spPr>
          <a:xfrm>
            <a:off x="1990122" y="6429377"/>
            <a:ext cx="9092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Quelle: https://www.business-wissen.de/artikel/swot-analyse-so-wird-eine-swot-analyse-erstellt/</a:t>
            </a:r>
          </a:p>
        </p:txBody>
      </p:sp>
    </p:spTree>
    <p:extLst>
      <p:ext uri="{BB962C8B-B14F-4D97-AF65-F5344CB8AC3E}">
        <p14:creationId xmlns:p14="http://schemas.microsoft.com/office/powerpoint/2010/main" val="4256129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1B840C9-8DB1-4610-A075-0F508736EED5}"/>
              </a:ext>
            </a:extLst>
          </p:cNvPr>
          <p:cNvSpPr txBox="1"/>
          <p:nvPr/>
        </p:nvSpPr>
        <p:spPr>
          <a:xfrm>
            <a:off x="778165" y="1127999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Die wichtigsten Einflüsse: 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F4A3126-A246-4229-96C3-DE151E3A2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267" y="2106801"/>
            <a:ext cx="10939466" cy="351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6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C528B80-94F5-4FBA-8713-0C76A5C73DE8}"/>
              </a:ext>
            </a:extLst>
          </p:cNvPr>
          <p:cNvSpPr txBox="1"/>
          <p:nvPr/>
        </p:nvSpPr>
        <p:spPr>
          <a:xfrm>
            <a:off x="870531" y="1022511"/>
            <a:ext cx="60847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Überprüfung auf Konsistenz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76C5725-30B5-4556-A912-62EF76E9C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486" y="2094687"/>
            <a:ext cx="10951028" cy="266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307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D13523C-C1F4-4BB6-8D95-183DA889EFA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568" b="36"/>
          <a:stretch/>
        </p:blipFill>
        <p:spPr>
          <a:xfrm>
            <a:off x="870531" y="1480328"/>
            <a:ext cx="7857457" cy="4513934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546D1122-E94A-4A98-A284-D50C09DED126}"/>
              </a:ext>
            </a:extLst>
          </p:cNvPr>
          <p:cNvSpPr txBox="1"/>
          <p:nvPr/>
        </p:nvSpPr>
        <p:spPr>
          <a:xfrm>
            <a:off x="870531" y="657030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Business Model Canvas</a:t>
            </a:r>
          </a:p>
        </p:txBody>
      </p:sp>
    </p:spTree>
    <p:extLst>
      <p:ext uri="{BB962C8B-B14F-4D97-AF65-F5344CB8AC3E}">
        <p14:creationId xmlns:p14="http://schemas.microsoft.com/office/powerpoint/2010/main" val="3480297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597643A-47AF-4D0D-B52F-0D526B04AAD4}"/>
              </a:ext>
            </a:extLst>
          </p:cNvPr>
          <p:cNvSpPr txBox="1"/>
          <p:nvPr/>
        </p:nvSpPr>
        <p:spPr>
          <a:xfrm>
            <a:off x="867812" y="841694"/>
            <a:ext cx="522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Business Case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6A6BBE2-9252-450A-9C32-5BE1A9543E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812" y="1488026"/>
            <a:ext cx="8010181" cy="457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213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CF4895-9E43-4451-AD30-62BB9C62C0DB}"/>
              </a:ext>
            </a:extLst>
          </p:cNvPr>
          <p:cNvSpPr txBox="1"/>
          <p:nvPr/>
        </p:nvSpPr>
        <p:spPr>
          <a:xfrm>
            <a:off x="685800" y="795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17392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D64EE381-6CA3-448B-B861-218962D3B872}"/>
              </a:ext>
            </a:extLst>
          </p:cNvPr>
          <p:cNvSpPr txBox="1"/>
          <p:nvPr/>
        </p:nvSpPr>
        <p:spPr>
          <a:xfrm>
            <a:off x="3348292" y="3167390"/>
            <a:ext cx="55739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Vielen Dank für eure Aufmerksamkeit!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BA26A6C-515C-480A-B62F-3125AFB1330E}"/>
              </a:ext>
            </a:extLst>
          </p:cNvPr>
          <p:cNvSpPr txBox="1"/>
          <p:nvPr/>
        </p:nvSpPr>
        <p:spPr>
          <a:xfrm>
            <a:off x="4705972" y="3198167"/>
            <a:ext cx="27800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Gibt es noch Fragen?</a:t>
            </a:r>
          </a:p>
        </p:txBody>
      </p:sp>
    </p:spTree>
    <p:extLst>
      <p:ext uri="{BB962C8B-B14F-4D97-AF65-F5344CB8AC3E}">
        <p14:creationId xmlns:p14="http://schemas.microsoft.com/office/powerpoint/2010/main" val="2008919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316</Words>
  <Application>Microsoft Office PowerPoint</Application>
  <PresentationFormat>Breitbild</PresentationFormat>
  <Paragraphs>98</Paragraphs>
  <Slides>23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8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Schwarz, Leon Maximilian</cp:lastModifiedBy>
  <cp:revision>42</cp:revision>
  <dcterms:created xsi:type="dcterms:W3CDTF">2020-11-02T11:25:11Z</dcterms:created>
  <dcterms:modified xsi:type="dcterms:W3CDTF">2020-11-10T09:04:08Z</dcterms:modified>
</cp:coreProperties>
</file>
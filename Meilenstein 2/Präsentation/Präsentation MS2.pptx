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3"/>
  </p:notesMasterIdLst>
  <p:sldIdLst>
    <p:sldId id="256" r:id="rId2"/>
    <p:sldId id="259" r:id="rId3"/>
    <p:sldId id="265" r:id="rId4"/>
    <p:sldId id="282" r:id="rId5"/>
    <p:sldId id="283" r:id="rId6"/>
    <p:sldId id="293" r:id="rId7"/>
    <p:sldId id="294" r:id="rId8"/>
    <p:sldId id="274" r:id="rId9"/>
    <p:sldId id="279" r:id="rId10"/>
    <p:sldId id="288" r:id="rId11"/>
    <p:sldId id="291" r:id="rId12"/>
    <p:sldId id="290" r:id="rId13"/>
    <p:sldId id="289" r:id="rId14"/>
    <p:sldId id="285" r:id="rId15"/>
    <p:sldId id="284" r:id="rId16"/>
    <p:sldId id="287" r:id="rId17"/>
    <p:sldId id="272" r:id="rId18"/>
    <p:sldId id="286" r:id="rId19"/>
    <p:sldId id="292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F63"/>
    <a:srgbClr val="4960A6"/>
    <a:srgbClr val="2E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3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9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1.wd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Wer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sind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265685" y="428287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Leon Schwarz 		 – CEO/Teamleitung</a:t>
            </a:r>
          </a:p>
          <a:p>
            <a:r>
              <a:rPr lang="de-DE" sz="2400" dirty="0"/>
              <a:t>Pascal Roschkowski – Controlling/Marktanalyse</a:t>
            </a:r>
          </a:p>
          <a:p>
            <a:r>
              <a:rPr lang="de-DE" sz="2400" dirty="0"/>
              <a:t>Tobias Röpke 		 – technischer Leiter</a:t>
            </a:r>
          </a:p>
          <a:p>
            <a:r>
              <a:rPr lang="de-DE" sz="2400" dirty="0"/>
              <a:t>Philipp Otto 		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1083430" y="3913541"/>
            <a:ext cx="38729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		Oktober 2020</a:t>
            </a:r>
          </a:p>
          <a:p>
            <a:r>
              <a:rPr lang="de-DE" sz="2400" dirty="0"/>
              <a:t>Mitarbeiter: 	4</a:t>
            </a:r>
          </a:p>
          <a:p>
            <a:endParaRPr lang="de-DE" sz="2400" dirty="0"/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92A4D7-C13D-46D3-B54C-2C678BB5956C}"/>
              </a:ext>
            </a:extLst>
          </p:cNvPr>
          <p:cNvSpPr txBox="1"/>
          <p:nvPr/>
        </p:nvSpPr>
        <p:spPr>
          <a:xfrm>
            <a:off x="3260801" y="1126390"/>
            <a:ext cx="567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				C-Tech </a:t>
            </a:r>
          </a:p>
          <a:p>
            <a:r>
              <a:rPr lang="de-DE" sz="2400" dirty="0"/>
              <a:t>„modern </a:t>
            </a:r>
            <a:r>
              <a:rPr lang="de-DE" sz="2400" dirty="0" err="1"/>
              <a:t>problems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creative</a:t>
            </a:r>
            <a:r>
              <a:rPr lang="de-DE" sz="2400" dirty="0"/>
              <a:t> </a:t>
            </a:r>
            <a:r>
              <a:rPr lang="de-DE" sz="2400" dirty="0" err="1"/>
              <a:t>solutions</a:t>
            </a:r>
            <a:r>
              <a:rPr lang="de-DE" sz="2400" dirty="0"/>
              <a:t>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71AB5-CA65-40C6-81CE-CC0F145BA1A5}"/>
              </a:ext>
            </a:extLst>
          </p:cNvPr>
          <p:cNvSpPr txBox="1"/>
          <p:nvPr/>
        </p:nvSpPr>
        <p:spPr>
          <a:xfrm>
            <a:off x="5265685" y="3913541"/>
            <a:ext cx="1604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unser Team:</a:t>
            </a:r>
          </a:p>
          <a:p>
            <a:endParaRPr lang="de-DE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580D00A-E394-4E22-9EBC-3B743726ED1E}"/>
              </a:ext>
            </a:extLst>
          </p:cNvPr>
          <p:cNvSpPr/>
          <p:nvPr/>
        </p:nvSpPr>
        <p:spPr>
          <a:xfrm>
            <a:off x="949569" y="3913541"/>
            <a:ext cx="10304585" cy="203005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machen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3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4134441"/>
            <a:ext cx="8406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Unterwassserdrohne zur automatisierten </a:t>
            </a:r>
          </a:p>
          <a:p>
            <a:r>
              <a:rPr lang="de-DE" sz="4000" dirty="0"/>
              <a:t>Ernte und Aussaat von Algen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823CB7-D2CC-4286-86B7-F8BD1E7225CB}"/>
              </a:ext>
            </a:extLst>
          </p:cNvPr>
          <p:cNvSpPr txBox="1"/>
          <p:nvPr/>
        </p:nvSpPr>
        <p:spPr>
          <a:xfrm>
            <a:off x="1022166" y="978089"/>
            <a:ext cx="69530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Groß Skalierbarer Anbau von Meeresalgen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Nutzung der Meeresflächen als Anbaugebiete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Reduzierung der Last auf terrestrischen Agrarflächen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FA1436-912C-4633-BB55-C233FF997032}"/>
              </a:ext>
            </a:extLst>
          </p:cNvPr>
          <p:cNvSpPr/>
          <p:nvPr/>
        </p:nvSpPr>
        <p:spPr>
          <a:xfrm>
            <a:off x="1892605" y="4134441"/>
            <a:ext cx="8343348" cy="146736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05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0CA426-D097-41B6-A081-DA8A2040F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059" y="859138"/>
            <a:ext cx="6615983" cy="496198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6DF43F7-955E-44DB-AD1F-B6AD16ED0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7" y="1131298"/>
            <a:ext cx="3181350" cy="952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D782B6C-B1DA-4D94-B233-90949DED6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857" y="2666210"/>
            <a:ext cx="3488671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E14FEBE-B786-4B93-B89B-ABC23E85716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65" y="0"/>
            <a:ext cx="12174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6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C960394-7742-48A3-89C3-98E01E27FDD3}"/>
              </a:ext>
            </a:extLst>
          </p:cNvPr>
          <p:cNvSpPr txBox="1"/>
          <p:nvPr/>
        </p:nvSpPr>
        <p:spPr>
          <a:xfrm>
            <a:off x="8054623" y="860931"/>
            <a:ext cx="2274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Flügeltang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Alaria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esculenta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e-DE" sz="36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72F42C-AFC6-4626-959C-8C725BBE79BD}"/>
              </a:ext>
            </a:extLst>
          </p:cNvPr>
          <p:cNvSpPr txBox="1"/>
          <p:nvPr/>
        </p:nvSpPr>
        <p:spPr>
          <a:xfrm>
            <a:off x="1297902" y="795528"/>
            <a:ext cx="3051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Zuckertang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Saccharina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latissima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de-DE" sz="36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BEABAA-095E-4ACF-A394-20410BE8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02" y="2034326"/>
            <a:ext cx="3376612" cy="3722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ADC62F-F731-467E-A16D-3D77CD3C5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399" y="2264321"/>
            <a:ext cx="4001650" cy="32540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1FE9D9D-61BC-4018-ABAC-3C7E41CAF89F}"/>
              </a:ext>
            </a:extLst>
          </p:cNvPr>
          <p:cNvCxnSpPr>
            <a:cxnSpLocks/>
          </p:cNvCxnSpPr>
          <p:nvPr/>
        </p:nvCxnSpPr>
        <p:spPr>
          <a:xfrm>
            <a:off x="5783956" y="1164860"/>
            <a:ext cx="0" cy="4720125"/>
          </a:xfrm>
          <a:prstGeom prst="line">
            <a:avLst/>
          </a:prstGeom>
          <a:ln>
            <a:solidFill>
              <a:srgbClr val="C17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816CCAAB-D810-487B-8646-DFEE914A24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" y="-1"/>
            <a:ext cx="12190004" cy="69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B2B162-1BAF-4A76-8A5F-C5F19297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494"/>
            <a:ext cx="12192000" cy="63470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9101060-80F9-4F3E-B5C0-318E4541CA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49"/>
            <a:ext cx="12192000" cy="68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1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44EBC54-9BC9-4E74-9B20-FFD9DDE22B16}"/>
              </a:ext>
            </a:extLst>
          </p:cNvPr>
          <p:cNvSpPr txBox="1"/>
          <p:nvPr/>
        </p:nvSpPr>
        <p:spPr>
          <a:xfrm>
            <a:off x="908436" y="8591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9" name="Grafik 8" descr="Asien mit einfarbiger Füllung">
            <a:extLst>
              <a:ext uri="{FF2B5EF4-FFF2-40B4-BE49-F238E27FC236}">
                <a16:creationId xmlns:a16="http://schemas.microsoft.com/office/drawing/2014/main" id="{CFED7C80-8680-4ADE-AD9F-63B31E684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771" y="2053242"/>
            <a:ext cx="3030632" cy="3030632"/>
          </a:xfrm>
          <a:prstGeom prst="rect">
            <a:avLst/>
          </a:prstGeom>
        </p:spPr>
      </p:pic>
      <p:pic>
        <p:nvPicPr>
          <p:cNvPr id="10" name="Grafik 9" descr="Europa mit einfarbiger Füllung">
            <a:extLst>
              <a:ext uri="{FF2B5EF4-FFF2-40B4-BE49-F238E27FC236}">
                <a16:creationId xmlns:a16="http://schemas.microsoft.com/office/drawing/2014/main" id="{C615EA59-02AA-423E-8656-E5DDE0131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6484" y="2121022"/>
            <a:ext cx="2430516" cy="243051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27852CF-D446-4B39-9BF2-A3C14EDC75A9}"/>
              </a:ext>
            </a:extLst>
          </p:cNvPr>
          <p:cNvSpPr txBox="1"/>
          <p:nvPr/>
        </p:nvSpPr>
        <p:spPr>
          <a:xfrm>
            <a:off x="1807597" y="4545265"/>
            <a:ext cx="1873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Europa </a:t>
            </a:r>
          </a:p>
          <a:p>
            <a:endParaRPr lang="de-DE" sz="28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6601E80-7131-427E-A40F-EDE9F1138D9C}"/>
              </a:ext>
            </a:extLst>
          </p:cNvPr>
          <p:cNvSpPr txBox="1"/>
          <p:nvPr/>
        </p:nvSpPr>
        <p:spPr>
          <a:xfrm>
            <a:off x="5923722" y="4545265"/>
            <a:ext cx="54148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Asien (insbesondere China) </a:t>
            </a:r>
          </a:p>
          <a:p>
            <a:endParaRPr lang="de-DE" sz="28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E9C8E4E-8E8E-4AB9-8FC9-D3A3ED01FD3B}"/>
              </a:ext>
            </a:extLst>
          </p:cNvPr>
          <p:cNvSpPr txBox="1"/>
          <p:nvPr/>
        </p:nvSpPr>
        <p:spPr>
          <a:xfrm>
            <a:off x="988315" y="654304"/>
            <a:ext cx="6251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Zukünftige Kunden: </a:t>
            </a:r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29557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84464B4-777A-44D4-9F5C-587DA8526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54" y="145846"/>
            <a:ext cx="11553092" cy="65663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6DF9D8-AE83-44B2-BF47-6D60579FBE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5"/>
            <a:ext cx="12192000" cy="68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0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9AEC49C-9D6A-4D5D-A2EC-73044575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6" y="87919"/>
            <a:ext cx="6910754" cy="6052275"/>
          </a:xfrm>
          <a:prstGeom prst="rect">
            <a:avLst/>
          </a:prstGeom>
          <a:effectLst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D4C797F-6F0C-4934-9005-EF68B0E97695}"/>
              </a:ext>
            </a:extLst>
          </p:cNvPr>
          <p:cNvSpPr txBox="1"/>
          <p:nvPr/>
        </p:nvSpPr>
        <p:spPr>
          <a:xfrm rot="5400000">
            <a:off x="3279501" y="6141961"/>
            <a:ext cx="612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…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3D31459-2584-4677-B6F8-9DA99127F894}"/>
              </a:ext>
            </a:extLst>
          </p:cNvPr>
          <p:cNvSpPr txBox="1"/>
          <p:nvPr/>
        </p:nvSpPr>
        <p:spPr>
          <a:xfrm>
            <a:off x="7042639" y="193430"/>
            <a:ext cx="4721470" cy="4154984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 Wichtigste Anforderungen: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Autonom Algen säen und ernten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Hochseeumgeben aushalten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Über modulare Werkzeuge verfügen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Sich kollisionsfrei in Umgebung fortbewegen können (andere Drohnen, Fische, Taucher,…)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Für den Kunden wirtschaftliche </a:t>
            </a:r>
          </a:p>
          <a:p>
            <a:r>
              <a:rPr lang="de-DE" sz="2400" dirty="0"/>
              <a:t>    Betriebskosten</a:t>
            </a:r>
          </a:p>
          <a:p>
            <a:r>
              <a:rPr lang="de-DE" sz="2400" dirty="0"/>
              <a:t>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09B40D7-5BA9-49C8-872E-20584B9A5B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654"/>
            <a:ext cx="12192000" cy="685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1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211B05-7243-4EA5-9891-97FB775B4504}"/>
              </a:ext>
            </a:extLst>
          </p:cNvPr>
          <p:cNvSpPr txBox="1"/>
          <p:nvPr/>
        </p:nvSpPr>
        <p:spPr>
          <a:xfrm>
            <a:off x="5794475" y="3244334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QFD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CD8186F-0225-4428-BD5D-F6BCC0366B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3479"/>
            <a:ext cx="12192000" cy="683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6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135CF50-9DB2-4326-B939-CB698082CBC3}"/>
              </a:ext>
            </a:extLst>
          </p:cNvPr>
          <p:cNvSpPr txBox="1"/>
          <p:nvPr/>
        </p:nvSpPr>
        <p:spPr>
          <a:xfrm>
            <a:off x="5718845" y="3244334"/>
            <a:ext cx="7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Patent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DE7ED3-3E8F-488E-BA41-0FE07DD2F5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721"/>
            <a:ext cx="12192000" cy="68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4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28F920-75D3-40D0-BE01-78D1BBBD5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51" y="85725"/>
            <a:ext cx="8900697" cy="66865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63CC021-7A2D-44F0-9E62-2470031076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2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943377C-E668-459C-B85A-35BCC84F4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00" y="98275"/>
            <a:ext cx="10511999" cy="666145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2FF6F9A-88B1-4470-B36F-B6F5FD84D4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892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792FD7F-141E-4729-BEEE-F077ED0C9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59" y="241084"/>
            <a:ext cx="11850882" cy="637583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864C132-7CD7-4ECF-872F-541AA36CBF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" y="0"/>
            <a:ext cx="12153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5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36636" y="643467"/>
            <a:ext cx="48715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Anforderungen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05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97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908436" y="8591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684E42DA-56F2-4FDE-9B8B-ACCE96074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207" y="283224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3D4D93-84C6-4CC0-8DF4-660C9C40A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954" y="859138"/>
            <a:ext cx="6615983" cy="496198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5CC6C71-9470-458C-B5F9-CF66DB320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7" y="1131298"/>
            <a:ext cx="3181350" cy="952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1CC943F-D564-4934-8317-63388ADD76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857" y="2737930"/>
            <a:ext cx="3488671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AD285E0-CBC3-4B88-BFEB-33A56EE4181E}"/>
              </a:ext>
            </a:extLst>
          </p:cNvPr>
          <p:cNvSpPr txBox="1"/>
          <p:nvPr/>
        </p:nvSpPr>
        <p:spPr>
          <a:xfrm>
            <a:off x="2929555" y="300561"/>
            <a:ext cx="236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Verfeinerter Zielrahmen</a:t>
            </a:r>
          </a:p>
        </p:txBody>
      </p:sp>
    </p:spTree>
    <p:extLst>
      <p:ext uri="{BB962C8B-B14F-4D97-AF65-F5344CB8AC3E}">
        <p14:creationId xmlns:p14="http://schemas.microsoft.com/office/powerpoint/2010/main" val="2733980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F19C88A-07F7-4F3D-B848-47DCC38A9975}"/>
              </a:ext>
            </a:extLst>
          </p:cNvPr>
          <p:cNvSpPr txBox="1"/>
          <p:nvPr/>
        </p:nvSpPr>
        <p:spPr>
          <a:xfrm>
            <a:off x="8054623" y="860931"/>
            <a:ext cx="2274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Flügeltang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Alaria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esculenta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e-DE" sz="36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4803796-90B2-4875-835B-CE7D321C5928}"/>
              </a:ext>
            </a:extLst>
          </p:cNvPr>
          <p:cNvSpPr txBox="1"/>
          <p:nvPr/>
        </p:nvSpPr>
        <p:spPr>
          <a:xfrm>
            <a:off x="1297902" y="795528"/>
            <a:ext cx="3051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Zuckertang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Saccharina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latissima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de-DE" sz="36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83FC059-36E7-4129-8577-C885E4CF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57" y="2082842"/>
            <a:ext cx="3376612" cy="3722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44E6A4A-8455-43C7-A46C-4F3A480DA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75" y="2534464"/>
            <a:ext cx="3467100" cy="2819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7A41CD5-48C2-42DC-9C74-019A4FE8DA4A}"/>
              </a:ext>
            </a:extLst>
          </p:cNvPr>
          <p:cNvCxnSpPr>
            <a:cxnSpLocks/>
          </p:cNvCxnSpPr>
          <p:nvPr/>
        </p:nvCxnSpPr>
        <p:spPr>
          <a:xfrm>
            <a:off x="5783956" y="1164860"/>
            <a:ext cx="0" cy="4720125"/>
          </a:xfrm>
          <a:prstGeom prst="line">
            <a:avLst/>
          </a:prstGeom>
          <a:ln>
            <a:solidFill>
              <a:srgbClr val="C17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E4A0E5EC-2943-4DC3-AB67-97299BD0EFF4}"/>
              </a:ext>
            </a:extLst>
          </p:cNvPr>
          <p:cNvSpPr txBox="1"/>
          <p:nvPr/>
        </p:nvSpPr>
        <p:spPr>
          <a:xfrm>
            <a:off x="2743200" y="358588"/>
            <a:ext cx="2015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Was bauen wir an?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DA89ED-6C5E-4531-981F-0FAF0A0C6F55}"/>
              </a:ext>
            </a:extLst>
          </p:cNvPr>
          <p:cNvSpPr txBox="1"/>
          <p:nvPr/>
        </p:nvSpPr>
        <p:spPr>
          <a:xfrm>
            <a:off x="4758432" y="269458"/>
            <a:ext cx="1922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(Unser Zielprodukt)</a:t>
            </a:r>
          </a:p>
        </p:txBody>
      </p:sp>
    </p:spTree>
    <p:extLst>
      <p:ext uri="{BB962C8B-B14F-4D97-AF65-F5344CB8AC3E}">
        <p14:creationId xmlns:p14="http://schemas.microsoft.com/office/powerpoint/2010/main" val="1052160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Breitbild</PresentationFormat>
  <Paragraphs>44</Paragraphs>
  <Slides>21</Slides>
  <Notes>0</Notes>
  <HiddenSlides>4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Wer sind wir?</vt:lpstr>
      <vt:lpstr>PowerPoint-Präsentation</vt:lpstr>
      <vt:lpstr>Was machen wir?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Anforderungen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Otto, Philipp Julian</cp:lastModifiedBy>
  <cp:revision>21</cp:revision>
  <dcterms:created xsi:type="dcterms:W3CDTF">2020-12-05T12:56:40Z</dcterms:created>
  <dcterms:modified xsi:type="dcterms:W3CDTF">2020-12-07T10:27:08Z</dcterms:modified>
</cp:coreProperties>
</file>